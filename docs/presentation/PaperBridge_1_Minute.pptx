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12 seconds</a:t>
            </a:r>
          </a:p>
          <a:p/>
          <a:p>
            <a:r>
              <a:t>Finding research papers is easy compared with understanding how they connect. Researchers and students still need to compare findings, identify unanswered questions, and decide what they could realistically test.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15 seconds</a:t>
            </a:r>
          </a:p>
          <a:p/>
          <a:p>
            <a:r>
              <a:t>PaperBridge connects that workflow. Enter a question and field, discover freely accessible research, and select papers. Comparison tools and a source-grounded mind map help reveal connections and possible gaps. Resource notes guide what comes next.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16 seconds</a:t>
            </a:r>
          </a:p>
          <a:p/>
          <a:p>
            <a:r>
              <a:t>AI then proposes a hypothesis and an editable experiment plan. Users can inspect supporting passages and distinguish abstracts from retrieved article text. Citation checks reject unsupported references, while limitations remain visible. These are research proposals, not scientifically verified discoveries.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17 seconds</a:t>
            </a:r>
          </a:p>
          <a:p/>
          <a:p>
            <a:r>
              <a:t>Our goal is to make research exploration more approachable, especially for students and small teams. PaperBridge is a prototype that helps turn scattered literature into an evidence-grounded question and a practical first experiment—with the researcher making the final decisions.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8F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10241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aperbridge-logo.png"/>
          <p:cNvPicPr>
            <a:picLocks noChangeAspect="1"/>
          </p:cNvPicPr>
          <p:nvPr/>
        </p:nvPicPr>
        <p:blipFill>
          <a:blip r:embed="rId2"/>
          <a:stretch>
            <a:fillRect/>
          </a:stretch>
        </p:blipFill>
        <p:spPr>
          <a:xfrm>
            <a:off x="566928" y="146304"/>
            <a:ext cx="1572768" cy="731520"/>
          </a:xfrm>
          <a:prstGeom prst="rect">
            <a:avLst/>
          </a:prstGeom>
        </p:spPr>
      </p:pic>
      <p:sp>
        <p:nvSpPr>
          <p:cNvPr id="5" name="TextBox 4"/>
          <p:cNvSpPr txBox="1"/>
          <p:nvPr/>
        </p:nvSpPr>
        <p:spPr>
          <a:xfrm>
            <a:off x="8229600" y="420624"/>
            <a:ext cx="3337560" cy="228600"/>
          </a:xfrm>
          <a:prstGeom prst="rect">
            <a:avLst/>
          </a:prstGeom>
          <a:noFill/>
        </p:spPr>
        <p:txBody>
          <a:bodyPr wrap="square" lIns="0" rIns="0" tIns="0" bIns="0" anchor="t">
            <a:spAutoFit/>
          </a:bodyPr>
          <a:lstStyle/>
          <a:p>
            <a:pPr>
              <a:lnSpc>
                <a:spcPct val="110000"/>
              </a:lnSpc>
              <a:spcBef>
                <a:spcPts val="0"/>
              </a:spcBef>
              <a:spcAft>
                <a:spcPts val="0"/>
              </a:spcAft>
              <a:defRPr sz="1100" b="1">
                <a:solidFill>
                  <a:srgbClr val="61718D"/>
                </a:solidFill>
                <a:latin typeface="Manrope"/>
              </a:defRPr>
            </a:pPr>
            <a:r>
              <a:t>THE OPPORTUNITY</a:t>
            </a:r>
          </a:p>
        </p:txBody>
      </p:sp>
      <p:cxnSp>
        <p:nvCxnSpPr>
          <p:cNvPr id="6" name="Connector 5"/>
          <p:cNvCxnSpPr/>
          <p:nvPr/>
        </p:nvCxnSpPr>
        <p:spPr>
          <a:xfrm>
            <a:off x="594360" y="1024128"/>
            <a:ext cx="11000232" cy="0"/>
          </a:xfrm>
          <a:prstGeom prst="line">
            <a:avLst/>
          </a:prstGeom>
          <a:ln w="10160">
            <a:solidFill>
              <a:srgbClr val="DFE5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21792" y="6473952"/>
            <a:ext cx="7315200" cy="182880"/>
          </a:xfrm>
          <a:prstGeom prst="rect">
            <a:avLst/>
          </a:prstGeom>
          <a:noFill/>
        </p:spPr>
        <p:txBody>
          <a:bodyPr wrap="square" lIns="0" rIns="0" tIns="0" bIns="0" anchor="t">
            <a:spAutoFit/>
          </a:bodyPr>
          <a:lstStyle/>
          <a:p>
            <a:pPr>
              <a:lnSpc>
                <a:spcPct val="110000"/>
              </a:lnSpc>
              <a:spcBef>
                <a:spcPts val="0"/>
              </a:spcBef>
              <a:spcAft>
                <a:spcPts val="0"/>
              </a:spcAft>
              <a:defRPr sz="1000" b="0">
                <a:solidFill>
                  <a:srgbClr val="61718D"/>
                </a:solidFill>
                <a:latin typeface="Manrope"/>
              </a:defRPr>
            </a:pPr>
            <a:r>
              <a:t>PaperBridge  /  Research workspace</a:t>
            </a:r>
          </a:p>
        </p:txBody>
      </p:sp>
      <p:sp>
        <p:nvSpPr>
          <p:cNvPr id="8" name="TextBox 7"/>
          <p:cNvSpPr txBox="1"/>
          <p:nvPr/>
        </p:nvSpPr>
        <p:spPr>
          <a:xfrm>
            <a:off x="10698480" y="6473952"/>
            <a:ext cx="914400" cy="182880"/>
          </a:xfrm>
          <a:prstGeom prst="rect">
            <a:avLst/>
          </a:prstGeom>
          <a:noFill/>
        </p:spPr>
        <p:txBody>
          <a:bodyPr wrap="square" lIns="0" rIns="0" tIns="0" bIns="0" anchor="t">
            <a:spAutoFit/>
          </a:bodyPr>
          <a:lstStyle/>
          <a:p>
            <a:pPr>
              <a:lnSpc>
                <a:spcPct val="110000"/>
              </a:lnSpc>
              <a:spcBef>
                <a:spcPts val="0"/>
              </a:spcBef>
              <a:spcAft>
                <a:spcPts val="0"/>
              </a:spcAft>
              <a:defRPr sz="1000" b="1">
                <a:solidFill>
                  <a:srgbClr val="61718D"/>
                </a:solidFill>
                <a:latin typeface="Manrope"/>
              </a:defRPr>
            </a:pPr>
            <a:r>
              <a:t>01 / 04</a:t>
            </a:r>
          </a:p>
        </p:txBody>
      </p:sp>
      <p:sp>
        <p:nvSpPr>
          <p:cNvPr id="9" name="TextBox 8"/>
          <p:cNvSpPr txBox="1"/>
          <p:nvPr/>
        </p:nvSpPr>
        <p:spPr>
          <a:xfrm>
            <a:off x="658368" y="1435608"/>
            <a:ext cx="10789920" cy="1389888"/>
          </a:xfrm>
          <a:prstGeom prst="rect">
            <a:avLst/>
          </a:prstGeom>
          <a:noFill/>
        </p:spPr>
        <p:txBody>
          <a:bodyPr wrap="square" lIns="0" rIns="0" tIns="0" bIns="0" anchor="t">
            <a:spAutoFit/>
          </a:bodyPr>
          <a:lstStyle/>
          <a:p>
            <a:pPr>
              <a:lnSpc>
                <a:spcPct val="110000"/>
              </a:lnSpc>
              <a:spcBef>
                <a:spcPts val="0"/>
              </a:spcBef>
              <a:spcAft>
                <a:spcPts val="0"/>
              </a:spcAft>
              <a:defRPr sz="4300" b="1">
                <a:solidFill>
                  <a:srgbClr val="102346"/>
                </a:solidFill>
                <a:latin typeface="Manrope"/>
              </a:defRPr>
            </a:pPr>
            <a:r>
              <a:t>From papers</a:t>
            </a:r>
          </a:p>
          <a:p>
            <a:pPr>
              <a:lnSpc>
                <a:spcPct val="110000"/>
              </a:lnSpc>
              <a:spcBef>
                <a:spcPts val="0"/>
              </a:spcBef>
              <a:spcAft>
                <a:spcPts val="0"/>
              </a:spcAft>
              <a:defRPr sz="4300" b="1">
                <a:solidFill>
                  <a:srgbClr val="102346"/>
                </a:solidFill>
                <a:latin typeface="Manrope"/>
              </a:defRPr>
            </a:pPr>
            <a:r>
              <a:t>to a testable idea.</a:t>
            </a:r>
          </a:p>
        </p:txBody>
      </p:sp>
      <p:sp>
        <p:nvSpPr>
          <p:cNvPr id="10" name="TextBox 9"/>
          <p:cNvSpPr txBox="1"/>
          <p:nvPr/>
        </p:nvSpPr>
        <p:spPr>
          <a:xfrm>
            <a:off x="685800" y="3044952"/>
            <a:ext cx="10789920" cy="411480"/>
          </a:xfrm>
          <a:prstGeom prst="rect">
            <a:avLst/>
          </a:prstGeom>
          <a:noFill/>
        </p:spPr>
        <p:txBody>
          <a:bodyPr wrap="square" lIns="0" rIns="0" tIns="0" bIns="0" anchor="t">
            <a:spAutoFit/>
          </a:bodyPr>
          <a:lstStyle/>
          <a:p>
            <a:pPr>
              <a:lnSpc>
                <a:spcPct val="110000"/>
              </a:lnSpc>
              <a:spcBef>
                <a:spcPts val="0"/>
              </a:spcBef>
              <a:spcAft>
                <a:spcPts val="0"/>
              </a:spcAft>
              <a:defRPr sz="2100" b="0">
                <a:solidFill>
                  <a:srgbClr val="61718D"/>
                </a:solidFill>
                <a:latin typeface="Manrope"/>
              </a:defRPr>
            </a:pPr>
            <a:r>
              <a:t>A research workspace for students and small teams.</a:t>
            </a:r>
          </a:p>
        </p:txBody>
      </p:sp>
      <p:sp>
        <p:nvSpPr>
          <p:cNvPr id="11" name="Rounded Rectangle 10"/>
          <p:cNvSpPr/>
          <p:nvPr/>
        </p:nvSpPr>
        <p:spPr>
          <a:xfrm>
            <a:off x="685800" y="3877056"/>
            <a:ext cx="5285232" cy="1463040"/>
          </a:xfrm>
          <a:prstGeom prst="roundRect">
            <a:avLst>
              <a:gd name="adj" fmla="val 12000"/>
            </a:avLst>
          </a:prstGeom>
          <a:solidFill>
            <a:srgbClr val="F0E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087368"/>
            <a:ext cx="548640" cy="274320"/>
          </a:xfrm>
          <a:prstGeom prst="rect">
            <a:avLst/>
          </a:prstGeom>
          <a:noFill/>
        </p:spPr>
        <p:txBody>
          <a:bodyPr wrap="square" lIns="0" rIns="0" tIns="0" bIns="0" anchor="t">
            <a:spAutoFit/>
          </a:bodyPr>
          <a:lstStyle/>
          <a:p>
            <a:pPr>
              <a:lnSpc>
                <a:spcPct val="110000"/>
              </a:lnSpc>
              <a:spcBef>
                <a:spcPts val="0"/>
              </a:spcBef>
              <a:spcAft>
                <a:spcPts val="0"/>
              </a:spcAft>
              <a:defRPr sz="1400" b="1">
                <a:solidFill>
                  <a:srgbClr val="6257F5"/>
                </a:solidFill>
                <a:latin typeface="Manrope"/>
              </a:defRPr>
            </a:pPr>
            <a:r>
              <a:t>01</a:t>
            </a:r>
          </a:p>
        </p:txBody>
      </p:sp>
      <p:sp>
        <p:nvSpPr>
          <p:cNvPr id="13" name="TextBox 12"/>
          <p:cNvSpPr txBox="1"/>
          <p:nvPr/>
        </p:nvSpPr>
        <p:spPr>
          <a:xfrm>
            <a:off x="914400" y="4498848"/>
            <a:ext cx="4800600" cy="320040"/>
          </a:xfrm>
          <a:prstGeom prst="rect">
            <a:avLst/>
          </a:prstGeom>
          <a:noFill/>
        </p:spPr>
        <p:txBody>
          <a:bodyPr wrap="square" lIns="0" rIns="0" tIns="0" bIns="0" anchor="t">
            <a:spAutoFit/>
          </a:bodyPr>
          <a:lstStyle/>
          <a:p>
            <a:pPr>
              <a:lnSpc>
                <a:spcPct val="110000"/>
              </a:lnSpc>
              <a:spcBef>
                <a:spcPts val="0"/>
              </a:spcBef>
              <a:spcAft>
                <a:spcPts val="0"/>
              </a:spcAft>
              <a:defRPr sz="2300" b="1">
                <a:solidFill>
                  <a:srgbClr val="102346"/>
                </a:solidFill>
                <a:latin typeface="Manrope"/>
              </a:defRPr>
            </a:pPr>
            <a:r>
              <a:t>Scattered evidence</a:t>
            </a:r>
          </a:p>
        </p:txBody>
      </p:sp>
      <p:sp>
        <p:nvSpPr>
          <p:cNvPr id="14" name="TextBox 13"/>
          <p:cNvSpPr txBox="1"/>
          <p:nvPr/>
        </p:nvSpPr>
        <p:spPr>
          <a:xfrm>
            <a:off x="914400" y="4946904"/>
            <a:ext cx="4800600" cy="274320"/>
          </a:xfrm>
          <a:prstGeom prst="rect">
            <a:avLst/>
          </a:prstGeom>
          <a:noFill/>
        </p:spPr>
        <p:txBody>
          <a:bodyPr wrap="square" lIns="0" rIns="0" tIns="0" bIns="0" anchor="t">
            <a:spAutoFit/>
          </a:bodyPr>
          <a:lstStyle/>
          <a:p>
            <a:pPr>
              <a:lnSpc>
                <a:spcPct val="110000"/>
              </a:lnSpc>
              <a:spcBef>
                <a:spcPts val="0"/>
              </a:spcBef>
              <a:spcAft>
                <a:spcPts val="0"/>
              </a:spcAft>
              <a:defRPr sz="1500" b="0">
                <a:solidFill>
                  <a:srgbClr val="61718D"/>
                </a:solidFill>
                <a:latin typeface="Manrope"/>
              </a:defRPr>
            </a:pPr>
            <a:r>
              <a:t>Papers live across different sources.</a:t>
            </a:r>
          </a:p>
        </p:txBody>
      </p:sp>
      <p:sp>
        <p:nvSpPr>
          <p:cNvPr id="15" name="Rounded Rectangle 14"/>
          <p:cNvSpPr/>
          <p:nvPr/>
        </p:nvSpPr>
        <p:spPr>
          <a:xfrm>
            <a:off x="6217920" y="3877056"/>
            <a:ext cx="5285232" cy="1463040"/>
          </a:xfrm>
          <a:prstGeom prst="roundRect">
            <a:avLst>
              <a:gd name="adj" fmla="val 12000"/>
            </a:avLst>
          </a:prstGeom>
          <a:solidFill>
            <a:srgbClr val="EA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4087368"/>
            <a:ext cx="548640" cy="274320"/>
          </a:xfrm>
          <a:prstGeom prst="rect">
            <a:avLst/>
          </a:prstGeom>
          <a:noFill/>
        </p:spPr>
        <p:txBody>
          <a:bodyPr wrap="square" lIns="0" rIns="0" tIns="0" bIns="0" anchor="t">
            <a:spAutoFit/>
          </a:bodyPr>
          <a:lstStyle/>
          <a:p>
            <a:pPr>
              <a:lnSpc>
                <a:spcPct val="110000"/>
              </a:lnSpc>
              <a:spcBef>
                <a:spcPts val="0"/>
              </a:spcBef>
              <a:spcAft>
                <a:spcPts val="0"/>
              </a:spcAft>
              <a:defRPr sz="1400" b="1">
                <a:solidFill>
                  <a:srgbClr val="6257F5"/>
                </a:solidFill>
                <a:latin typeface="Manrope"/>
              </a:defRPr>
            </a:pPr>
            <a:r>
              <a:t>02</a:t>
            </a:r>
          </a:p>
        </p:txBody>
      </p:sp>
      <p:sp>
        <p:nvSpPr>
          <p:cNvPr id="17" name="TextBox 16"/>
          <p:cNvSpPr txBox="1"/>
          <p:nvPr/>
        </p:nvSpPr>
        <p:spPr>
          <a:xfrm>
            <a:off x="6446520" y="4498848"/>
            <a:ext cx="4800600" cy="320040"/>
          </a:xfrm>
          <a:prstGeom prst="rect">
            <a:avLst/>
          </a:prstGeom>
          <a:noFill/>
        </p:spPr>
        <p:txBody>
          <a:bodyPr wrap="square" lIns="0" rIns="0" tIns="0" bIns="0" anchor="t">
            <a:spAutoFit/>
          </a:bodyPr>
          <a:lstStyle/>
          <a:p>
            <a:pPr>
              <a:lnSpc>
                <a:spcPct val="110000"/>
              </a:lnSpc>
              <a:spcBef>
                <a:spcPts val="0"/>
              </a:spcBef>
              <a:spcAft>
                <a:spcPts val="0"/>
              </a:spcAft>
              <a:defRPr sz="2300" b="1">
                <a:solidFill>
                  <a:srgbClr val="102346"/>
                </a:solidFill>
                <a:latin typeface="Manrope"/>
              </a:defRPr>
            </a:pPr>
            <a:r>
              <a:t>An unclear next step</a:t>
            </a:r>
          </a:p>
        </p:txBody>
      </p:sp>
      <p:sp>
        <p:nvSpPr>
          <p:cNvPr id="18" name="TextBox 17"/>
          <p:cNvSpPr txBox="1"/>
          <p:nvPr/>
        </p:nvSpPr>
        <p:spPr>
          <a:xfrm>
            <a:off x="6446520" y="4946904"/>
            <a:ext cx="4800600" cy="274320"/>
          </a:xfrm>
          <a:prstGeom prst="rect">
            <a:avLst/>
          </a:prstGeom>
          <a:noFill/>
        </p:spPr>
        <p:txBody>
          <a:bodyPr wrap="square" lIns="0" rIns="0" tIns="0" bIns="0" anchor="t">
            <a:spAutoFit/>
          </a:bodyPr>
          <a:lstStyle/>
          <a:p>
            <a:pPr>
              <a:lnSpc>
                <a:spcPct val="110000"/>
              </a:lnSpc>
              <a:spcBef>
                <a:spcPts val="0"/>
              </a:spcBef>
              <a:spcAft>
                <a:spcPts val="0"/>
              </a:spcAft>
              <a:defRPr sz="1500" b="0">
                <a:solidFill>
                  <a:srgbClr val="61718D"/>
                </a:solidFill>
                <a:latin typeface="Manrope"/>
              </a:defRPr>
            </a:pPr>
            <a:r>
              <a:t>What is worth investigating—and testing?</a:t>
            </a:r>
          </a:p>
        </p:txBody>
      </p:sp>
      <p:sp>
        <p:nvSpPr>
          <p:cNvPr id="19" name="TextBox 18"/>
          <p:cNvSpPr txBox="1"/>
          <p:nvPr/>
        </p:nvSpPr>
        <p:spPr>
          <a:xfrm>
            <a:off x="685800" y="5760720"/>
            <a:ext cx="10789920" cy="320040"/>
          </a:xfrm>
          <a:prstGeom prst="rect">
            <a:avLst/>
          </a:prstGeom>
          <a:noFill/>
        </p:spPr>
        <p:txBody>
          <a:bodyPr wrap="square" lIns="0" rIns="0" tIns="0" bIns="0" anchor="t">
            <a:spAutoFit/>
          </a:bodyPr>
          <a:lstStyle/>
          <a:p>
            <a:pPr>
              <a:lnSpc>
                <a:spcPct val="110000"/>
              </a:lnSpc>
              <a:spcBef>
                <a:spcPts val="0"/>
              </a:spcBef>
              <a:spcAft>
                <a:spcPts val="0"/>
              </a:spcAft>
              <a:defRPr sz="2100" b="1">
                <a:solidFill>
                  <a:srgbClr val="6257F5"/>
                </a:solidFill>
                <a:latin typeface="Manrope"/>
              </a:defRPr>
            </a:pPr>
            <a:r>
              <a:t>Find connections. Inspect evidence. Plan a first test.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8F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10241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aperbridge-logo.png"/>
          <p:cNvPicPr>
            <a:picLocks noChangeAspect="1"/>
          </p:cNvPicPr>
          <p:nvPr/>
        </p:nvPicPr>
        <p:blipFill>
          <a:blip r:embed="rId2"/>
          <a:stretch>
            <a:fillRect/>
          </a:stretch>
        </p:blipFill>
        <p:spPr>
          <a:xfrm>
            <a:off x="566928" y="146304"/>
            <a:ext cx="1572768" cy="731520"/>
          </a:xfrm>
          <a:prstGeom prst="rect">
            <a:avLst/>
          </a:prstGeom>
        </p:spPr>
      </p:pic>
      <p:sp>
        <p:nvSpPr>
          <p:cNvPr id="5" name="TextBox 4"/>
          <p:cNvSpPr txBox="1"/>
          <p:nvPr/>
        </p:nvSpPr>
        <p:spPr>
          <a:xfrm>
            <a:off x="8229600" y="420624"/>
            <a:ext cx="3337560" cy="228600"/>
          </a:xfrm>
          <a:prstGeom prst="rect">
            <a:avLst/>
          </a:prstGeom>
          <a:noFill/>
        </p:spPr>
        <p:txBody>
          <a:bodyPr wrap="square" lIns="0" rIns="0" tIns="0" bIns="0" anchor="t">
            <a:spAutoFit/>
          </a:bodyPr>
          <a:lstStyle/>
          <a:p>
            <a:pPr>
              <a:lnSpc>
                <a:spcPct val="110000"/>
              </a:lnSpc>
              <a:spcBef>
                <a:spcPts val="0"/>
              </a:spcBef>
              <a:spcAft>
                <a:spcPts val="0"/>
              </a:spcAft>
              <a:defRPr sz="1100" b="1">
                <a:solidFill>
                  <a:srgbClr val="61718D"/>
                </a:solidFill>
                <a:latin typeface="Manrope"/>
              </a:defRPr>
            </a:pPr>
            <a:r>
              <a:t>THE WORKFLOW</a:t>
            </a:r>
          </a:p>
        </p:txBody>
      </p:sp>
      <p:cxnSp>
        <p:nvCxnSpPr>
          <p:cNvPr id="6" name="Connector 5"/>
          <p:cNvCxnSpPr/>
          <p:nvPr/>
        </p:nvCxnSpPr>
        <p:spPr>
          <a:xfrm>
            <a:off x="594360" y="1024128"/>
            <a:ext cx="11000232" cy="0"/>
          </a:xfrm>
          <a:prstGeom prst="line">
            <a:avLst/>
          </a:prstGeom>
          <a:ln w="10160">
            <a:solidFill>
              <a:srgbClr val="DFE5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21792" y="6473952"/>
            <a:ext cx="7315200" cy="182880"/>
          </a:xfrm>
          <a:prstGeom prst="rect">
            <a:avLst/>
          </a:prstGeom>
          <a:noFill/>
        </p:spPr>
        <p:txBody>
          <a:bodyPr wrap="square" lIns="0" rIns="0" tIns="0" bIns="0" anchor="t">
            <a:spAutoFit/>
          </a:bodyPr>
          <a:lstStyle/>
          <a:p>
            <a:pPr>
              <a:lnSpc>
                <a:spcPct val="110000"/>
              </a:lnSpc>
              <a:spcBef>
                <a:spcPts val="0"/>
              </a:spcBef>
              <a:spcAft>
                <a:spcPts val="0"/>
              </a:spcAft>
              <a:defRPr sz="1000" b="0">
                <a:solidFill>
                  <a:srgbClr val="61718D"/>
                </a:solidFill>
                <a:latin typeface="Manrope"/>
              </a:defRPr>
            </a:pPr>
            <a:r>
              <a:t>PaperBridge  /  Research workspace</a:t>
            </a:r>
          </a:p>
        </p:txBody>
      </p:sp>
      <p:sp>
        <p:nvSpPr>
          <p:cNvPr id="8" name="TextBox 7"/>
          <p:cNvSpPr txBox="1"/>
          <p:nvPr/>
        </p:nvSpPr>
        <p:spPr>
          <a:xfrm>
            <a:off x="10698480" y="6473952"/>
            <a:ext cx="914400" cy="182880"/>
          </a:xfrm>
          <a:prstGeom prst="rect">
            <a:avLst/>
          </a:prstGeom>
          <a:noFill/>
        </p:spPr>
        <p:txBody>
          <a:bodyPr wrap="square" lIns="0" rIns="0" tIns="0" bIns="0" anchor="t">
            <a:spAutoFit/>
          </a:bodyPr>
          <a:lstStyle/>
          <a:p>
            <a:pPr>
              <a:lnSpc>
                <a:spcPct val="110000"/>
              </a:lnSpc>
              <a:spcBef>
                <a:spcPts val="0"/>
              </a:spcBef>
              <a:spcAft>
                <a:spcPts val="0"/>
              </a:spcAft>
              <a:defRPr sz="1000" b="1">
                <a:solidFill>
                  <a:srgbClr val="61718D"/>
                </a:solidFill>
                <a:latin typeface="Manrope"/>
              </a:defRPr>
            </a:pPr>
            <a:r>
              <a:t>02 / 04</a:t>
            </a:r>
          </a:p>
        </p:txBody>
      </p:sp>
      <p:sp>
        <p:nvSpPr>
          <p:cNvPr id="9" name="TextBox 8"/>
          <p:cNvSpPr txBox="1"/>
          <p:nvPr/>
        </p:nvSpPr>
        <p:spPr>
          <a:xfrm>
            <a:off x="685800" y="1389888"/>
            <a:ext cx="10789920" cy="594360"/>
          </a:xfrm>
          <a:prstGeom prst="rect">
            <a:avLst/>
          </a:prstGeom>
          <a:noFill/>
        </p:spPr>
        <p:txBody>
          <a:bodyPr wrap="square" lIns="0" rIns="0" tIns="0" bIns="0" anchor="t">
            <a:spAutoFit/>
          </a:bodyPr>
          <a:lstStyle/>
          <a:p>
            <a:pPr>
              <a:lnSpc>
                <a:spcPct val="110000"/>
              </a:lnSpc>
              <a:spcBef>
                <a:spcPts val="0"/>
              </a:spcBef>
              <a:spcAft>
                <a:spcPts val="0"/>
              </a:spcAft>
              <a:defRPr sz="3600" b="1">
                <a:solidFill>
                  <a:srgbClr val="102346"/>
                </a:solidFill>
                <a:latin typeface="Manrope"/>
              </a:defRPr>
            </a:pPr>
            <a:r>
              <a:t>One connected workflow</a:t>
            </a:r>
          </a:p>
        </p:txBody>
      </p:sp>
      <p:sp>
        <p:nvSpPr>
          <p:cNvPr id="10" name="TextBox 9"/>
          <p:cNvSpPr txBox="1"/>
          <p:nvPr/>
        </p:nvSpPr>
        <p:spPr>
          <a:xfrm>
            <a:off x="704088" y="2075688"/>
            <a:ext cx="10698480" cy="365760"/>
          </a:xfrm>
          <a:prstGeom prst="rect">
            <a:avLst/>
          </a:prstGeom>
          <a:noFill/>
        </p:spPr>
        <p:txBody>
          <a:bodyPr wrap="square" lIns="0" rIns="0" tIns="0" bIns="0" anchor="t">
            <a:spAutoFit/>
          </a:bodyPr>
          <a:lstStyle/>
          <a:p>
            <a:pPr>
              <a:lnSpc>
                <a:spcPct val="110000"/>
              </a:lnSpc>
              <a:spcBef>
                <a:spcPts val="0"/>
              </a:spcBef>
              <a:spcAft>
                <a:spcPts val="0"/>
              </a:spcAft>
              <a:defRPr sz="2000" b="0">
                <a:solidFill>
                  <a:srgbClr val="61718D"/>
                </a:solidFill>
                <a:latin typeface="Manrope"/>
              </a:defRPr>
            </a:pPr>
            <a:r>
              <a:t>Start with one field and a research question.</a:t>
            </a:r>
          </a:p>
        </p:txBody>
      </p:sp>
      <p:sp>
        <p:nvSpPr>
          <p:cNvPr id="11" name="Rounded Rectangle 10"/>
          <p:cNvSpPr/>
          <p:nvPr/>
        </p:nvSpPr>
        <p:spPr>
          <a:xfrm>
            <a:off x="685800" y="2779776"/>
            <a:ext cx="1993392" cy="1700784"/>
          </a:xfrm>
          <a:prstGeom prst="roundRect">
            <a:avLst>
              <a:gd name="adj" fmla="val 12000"/>
            </a:avLst>
          </a:prstGeom>
          <a:solidFill>
            <a:srgbClr val="FFFFFF"/>
          </a:solidFill>
          <a:ln w="10160">
            <a:solidFill>
              <a:srgbClr val="DFE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971800"/>
            <a:ext cx="1554480" cy="228600"/>
          </a:xfrm>
          <a:prstGeom prst="rect">
            <a:avLst/>
          </a:prstGeom>
          <a:noFill/>
        </p:spPr>
        <p:txBody>
          <a:bodyPr wrap="square" lIns="0" rIns="0" tIns="0" bIns="0" anchor="t">
            <a:spAutoFit/>
          </a:bodyPr>
          <a:lstStyle/>
          <a:p>
            <a:pPr>
              <a:lnSpc>
                <a:spcPct val="110000"/>
              </a:lnSpc>
              <a:spcBef>
                <a:spcPts val="0"/>
              </a:spcBef>
              <a:spcAft>
                <a:spcPts val="0"/>
              </a:spcAft>
              <a:defRPr sz="1200" b="1">
                <a:solidFill>
                  <a:srgbClr val="6257F5"/>
                </a:solidFill>
                <a:latin typeface="Manrope"/>
              </a:defRPr>
            </a:pPr>
            <a:r>
              <a:t>01</a:t>
            </a:r>
          </a:p>
        </p:txBody>
      </p:sp>
      <p:sp>
        <p:nvSpPr>
          <p:cNvPr id="13" name="TextBox 12"/>
          <p:cNvSpPr txBox="1"/>
          <p:nvPr/>
        </p:nvSpPr>
        <p:spPr>
          <a:xfrm>
            <a:off x="868680" y="3383280"/>
            <a:ext cx="1645920" cy="292608"/>
          </a:xfrm>
          <a:prstGeom prst="rect">
            <a:avLst/>
          </a:prstGeom>
          <a:noFill/>
        </p:spPr>
        <p:txBody>
          <a:bodyPr wrap="square" lIns="0" rIns="0" tIns="0" bIns="0" anchor="t">
            <a:spAutoFit/>
          </a:bodyPr>
          <a:lstStyle/>
          <a:p>
            <a:pPr>
              <a:lnSpc>
                <a:spcPct val="110000"/>
              </a:lnSpc>
              <a:spcBef>
                <a:spcPts val="0"/>
              </a:spcBef>
              <a:spcAft>
                <a:spcPts val="0"/>
              </a:spcAft>
              <a:defRPr sz="1900" b="1">
                <a:solidFill>
                  <a:srgbClr val="102346"/>
                </a:solidFill>
                <a:latin typeface="Manrope"/>
              </a:defRPr>
            </a:pPr>
            <a:r>
              <a:t>Focus</a:t>
            </a:r>
          </a:p>
        </p:txBody>
      </p:sp>
      <p:sp>
        <p:nvSpPr>
          <p:cNvPr id="14" name="TextBox 13"/>
          <p:cNvSpPr txBox="1"/>
          <p:nvPr/>
        </p:nvSpPr>
        <p:spPr>
          <a:xfrm>
            <a:off x="868680" y="3822191"/>
            <a:ext cx="1645920" cy="521207"/>
          </a:xfrm>
          <a:prstGeom prst="rect">
            <a:avLst/>
          </a:prstGeom>
          <a:noFill/>
        </p:spPr>
        <p:txBody>
          <a:bodyPr wrap="square" lIns="0" rIns="0" tIns="0" bIns="0" anchor="t">
            <a:spAutoFit/>
          </a:bodyPr>
          <a:lstStyle/>
          <a:p>
            <a:pPr>
              <a:lnSpc>
                <a:spcPct val="110000"/>
              </a:lnSpc>
              <a:spcBef>
                <a:spcPts val="0"/>
              </a:spcBef>
              <a:spcAft>
                <a:spcPts val="0"/>
              </a:spcAft>
              <a:defRPr sz="1600" b="0">
                <a:solidFill>
                  <a:srgbClr val="61718D"/>
                </a:solidFill>
                <a:latin typeface="Manrope"/>
              </a:defRPr>
            </a:pPr>
            <a:r>
              <a:t>Question</a:t>
            </a:r>
          </a:p>
          <a:p>
            <a:pPr>
              <a:lnSpc>
                <a:spcPct val="110000"/>
              </a:lnSpc>
              <a:spcBef>
                <a:spcPts val="0"/>
              </a:spcBef>
              <a:spcAft>
                <a:spcPts val="0"/>
              </a:spcAft>
              <a:defRPr sz="1600" b="0">
                <a:solidFill>
                  <a:srgbClr val="61718D"/>
                </a:solidFill>
                <a:latin typeface="Manrope"/>
              </a:defRPr>
            </a:pPr>
            <a:r>
              <a:t>+ field</a:t>
            </a:r>
          </a:p>
        </p:txBody>
      </p:sp>
      <p:sp>
        <p:nvSpPr>
          <p:cNvPr id="15" name="TextBox 14"/>
          <p:cNvSpPr txBox="1"/>
          <p:nvPr/>
        </p:nvSpPr>
        <p:spPr>
          <a:xfrm>
            <a:off x="2715768" y="3447288"/>
            <a:ext cx="219456" cy="320040"/>
          </a:xfrm>
          <a:prstGeom prst="rect">
            <a:avLst/>
          </a:prstGeom>
          <a:noFill/>
        </p:spPr>
        <p:txBody>
          <a:bodyPr wrap="square" lIns="0" rIns="0" tIns="0" bIns="0" anchor="t">
            <a:spAutoFit/>
          </a:bodyPr>
          <a:lstStyle/>
          <a:p>
            <a:pPr>
              <a:lnSpc>
                <a:spcPct val="110000"/>
              </a:lnSpc>
              <a:spcBef>
                <a:spcPts val="0"/>
              </a:spcBef>
              <a:spcAft>
                <a:spcPts val="0"/>
              </a:spcAft>
              <a:defRPr sz="2400" b="1">
                <a:solidFill>
                  <a:srgbClr val="6257F5"/>
                </a:solidFill>
                <a:latin typeface="Manrope"/>
              </a:defRPr>
            </a:pPr>
            <a:r>
              <a:t>›</a:t>
            </a:r>
          </a:p>
        </p:txBody>
      </p:sp>
      <p:sp>
        <p:nvSpPr>
          <p:cNvPr id="16" name="Rounded Rectangle 15"/>
          <p:cNvSpPr/>
          <p:nvPr/>
        </p:nvSpPr>
        <p:spPr>
          <a:xfrm>
            <a:off x="2894076" y="2779776"/>
            <a:ext cx="1993392" cy="1700784"/>
          </a:xfrm>
          <a:prstGeom prst="roundRect">
            <a:avLst>
              <a:gd name="adj" fmla="val 12000"/>
            </a:avLst>
          </a:prstGeom>
          <a:solidFill>
            <a:srgbClr val="FFFFFF"/>
          </a:solidFill>
          <a:ln w="10160">
            <a:solidFill>
              <a:srgbClr val="DFE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76956" y="2971800"/>
            <a:ext cx="1554480" cy="228600"/>
          </a:xfrm>
          <a:prstGeom prst="rect">
            <a:avLst/>
          </a:prstGeom>
          <a:noFill/>
        </p:spPr>
        <p:txBody>
          <a:bodyPr wrap="square" lIns="0" rIns="0" tIns="0" bIns="0" anchor="t">
            <a:spAutoFit/>
          </a:bodyPr>
          <a:lstStyle/>
          <a:p>
            <a:pPr>
              <a:lnSpc>
                <a:spcPct val="110000"/>
              </a:lnSpc>
              <a:spcBef>
                <a:spcPts val="0"/>
              </a:spcBef>
              <a:spcAft>
                <a:spcPts val="0"/>
              </a:spcAft>
              <a:defRPr sz="1200" b="1">
                <a:solidFill>
                  <a:srgbClr val="6257F5"/>
                </a:solidFill>
                <a:latin typeface="Manrope"/>
              </a:defRPr>
            </a:pPr>
            <a:r>
              <a:t>02</a:t>
            </a:r>
          </a:p>
        </p:txBody>
      </p:sp>
      <p:sp>
        <p:nvSpPr>
          <p:cNvPr id="18" name="TextBox 17"/>
          <p:cNvSpPr txBox="1"/>
          <p:nvPr/>
        </p:nvSpPr>
        <p:spPr>
          <a:xfrm>
            <a:off x="3076956" y="3383280"/>
            <a:ext cx="1645920" cy="292608"/>
          </a:xfrm>
          <a:prstGeom prst="rect">
            <a:avLst/>
          </a:prstGeom>
          <a:noFill/>
        </p:spPr>
        <p:txBody>
          <a:bodyPr wrap="square" lIns="0" rIns="0" tIns="0" bIns="0" anchor="t">
            <a:spAutoFit/>
          </a:bodyPr>
          <a:lstStyle/>
          <a:p>
            <a:pPr>
              <a:lnSpc>
                <a:spcPct val="110000"/>
              </a:lnSpc>
              <a:spcBef>
                <a:spcPts val="0"/>
              </a:spcBef>
              <a:spcAft>
                <a:spcPts val="0"/>
              </a:spcAft>
              <a:defRPr sz="1900" b="1">
                <a:solidFill>
                  <a:srgbClr val="102346"/>
                </a:solidFill>
                <a:latin typeface="Manrope"/>
              </a:defRPr>
            </a:pPr>
            <a:r>
              <a:t>Papers</a:t>
            </a:r>
          </a:p>
        </p:txBody>
      </p:sp>
      <p:sp>
        <p:nvSpPr>
          <p:cNvPr id="19" name="TextBox 18"/>
          <p:cNvSpPr txBox="1"/>
          <p:nvPr/>
        </p:nvSpPr>
        <p:spPr>
          <a:xfrm>
            <a:off x="3076956" y="3822191"/>
            <a:ext cx="1645920" cy="521207"/>
          </a:xfrm>
          <a:prstGeom prst="rect">
            <a:avLst/>
          </a:prstGeom>
          <a:noFill/>
        </p:spPr>
        <p:txBody>
          <a:bodyPr wrap="square" lIns="0" rIns="0" tIns="0" bIns="0" anchor="t">
            <a:spAutoFit/>
          </a:bodyPr>
          <a:lstStyle/>
          <a:p>
            <a:pPr>
              <a:lnSpc>
                <a:spcPct val="110000"/>
              </a:lnSpc>
              <a:spcBef>
                <a:spcPts val="0"/>
              </a:spcBef>
              <a:spcAft>
                <a:spcPts val="0"/>
              </a:spcAft>
              <a:defRPr sz="1600" b="0">
                <a:solidFill>
                  <a:srgbClr val="61718D"/>
                </a:solidFill>
                <a:latin typeface="Manrope"/>
              </a:defRPr>
            </a:pPr>
            <a:r>
              <a:t>Choose</a:t>
            </a:r>
          </a:p>
          <a:p>
            <a:pPr>
              <a:lnSpc>
                <a:spcPct val="110000"/>
              </a:lnSpc>
              <a:spcBef>
                <a:spcPts val="0"/>
              </a:spcBef>
              <a:spcAft>
                <a:spcPts val="0"/>
              </a:spcAft>
              <a:defRPr sz="1600" b="0">
                <a:solidFill>
                  <a:srgbClr val="61718D"/>
                </a:solidFill>
                <a:latin typeface="Manrope"/>
              </a:defRPr>
            </a:pPr>
            <a:r>
              <a:t>4–6 papers</a:t>
            </a:r>
          </a:p>
        </p:txBody>
      </p:sp>
      <p:sp>
        <p:nvSpPr>
          <p:cNvPr id="20" name="TextBox 19"/>
          <p:cNvSpPr txBox="1"/>
          <p:nvPr/>
        </p:nvSpPr>
        <p:spPr>
          <a:xfrm>
            <a:off x="4924044" y="3447288"/>
            <a:ext cx="219456" cy="320040"/>
          </a:xfrm>
          <a:prstGeom prst="rect">
            <a:avLst/>
          </a:prstGeom>
          <a:noFill/>
        </p:spPr>
        <p:txBody>
          <a:bodyPr wrap="square" lIns="0" rIns="0" tIns="0" bIns="0" anchor="t">
            <a:spAutoFit/>
          </a:bodyPr>
          <a:lstStyle/>
          <a:p>
            <a:pPr>
              <a:lnSpc>
                <a:spcPct val="110000"/>
              </a:lnSpc>
              <a:spcBef>
                <a:spcPts val="0"/>
              </a:spcBef>
              <a:spcAft>
                <a:spcPts val="0"/>
              </a:spcAft>
              <a:defRPr sz="2400" b="1">
                <a:solidFill>
                  <a:srgbClr val="6257F5"/>
                </a:solidFill>
                <a:latin typeface="Manrope"/>
              </a:defRPr>
            </a:pPr>
            <a:r>
              <a:t>›</a:t>
            </a:r>
          </a:p>
        </p:txBody>
      </p:sp>
      <p:sp>
        <p:nvSpPr>
          <p:cNvPr id="21" name="Rounded Rectangle 20"/>
          <p:cNvSpPr/>
          <p:nvPr/>
        </p:nvSpPr>
        <p:spPr>
          <a:xfrm>
            <a:off x="5102352" y="2779776"/>
            <a:ext cx="1993392" cy="1700784"/>
          </a:xfrm>
          <a:prstGeom prst="roundRect">
            <a:avLst>
              <a:gd name="adj" fmla="val 12000"/>
            </a:avLst>
          </a:prstGeom>
          <a:solidFill>
            <a:srgbClr val="FFFFFF"/>
          </a:solidFill>
          <a:ln w="10160">
            <a:solidFill>
              <a:srgbClr val="DFE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85232" y="2971800"/>
            <a:ext cx="1554480" cy="228600"/>
          </a:xfrm>
          <a:prstGeom prst="rect">
            <a:avLst/>
          </a:prstGeom>
          <a:noFill/>
        </p:spPr>
        <p:txBody>
          <a:bodyPr wrap="square" lIns="0" rIns="0" tIns="0" bIns="0" anchor="t">
            <a:spAutoFit/>
          </a:bodyPr>
          <a:lstStyle/>
          <a:p>
            <a:pPr>
              <a:lnSpc>
                <a:spcPct val="110000"/>
              </a:lnSpc>
              <a:spcBef>
                <a:spcPts val="0"/>
              </a:spcBef>
              <a:spcAft>
                <a:spcPts val="0"/>
              </a:spcAft>
              <a:defRPr sz="1200" b="1">
                <a:solidFill>
                  <a:srgbClr val="6257F5"/>
                </a:solidFill>
                <a:latin typeface="Manrope"/>
              </a:defRPr>
            </a:pPr>
            <a:r>
              <a:t>03</a:t>
            </a:r>
          </a:p>
        </p:txBody>
      </p:sp>
      <p:sp>
        <p:nvSpPr>
          <p:cNvPr id="23" name="TextBox 22"/>
          <p:cNvSpPr txBox="1"/>
          <p:nvPr/>
        </p:nvSpPr>
        <p:spPr>
          <a:xfrm>
            <a:off x="5285232" y="3383280"/>
            <a:ext cx="1645920" cy="292608"/>
          </a:xfrm>
          <a:prstGeom prst="rect">
            <a:avLst/>
          </a:prstGeom>
          <a:noFill/>
        </p:spPr>
        <p:txBody>
          <a:bodyPr wrap="square" lIns="0" rIns="0" tIns="0" bIns="0" anchor="t">
            <a:spAutoFit/>
          </a:bodyPr>
          <a:lstStyle/>
          <a:p>
            <a:pPr>
              <a:lnSpc>
                <a:spcPct val="110000"/>
              </a:lnSpc>
              <a:spcBef>
                <a:spcPts val="0"/>
              </a:spcBef>
              <a:spcAft>
                <a:spcPts val="0"/>
              </a:spcAft>
              <a:defRPr sz="1900" b="1">
                <a:solidFill>
                  <a:srgbClr val="102346"/>
                </a:solidFill>
                <a:latin typeface="Manrope"/>
              </a:defRPr>
            </a:pPr>
            <a:r>
              <a:t>Mind map</a:t>
            </a:r>
          </a:p>
        </p:txBody>
      </p:sp>
      <p:sp>
        <p:nvSpPr>
          <p:cNvPr id="24" name="TextBox 23"/>
          <p:cNvSpPr txBox="1"/>
          <p:nvPr/>
        </p:nvSpPr>
        <p:spPr>
          <a:xfrm>
            <a:off x="5285232" y="3822191"/>
            <a:ext cx="1645920" cy="521207"/>
          </a:xfrm>
          <a:prstGeom prst="rect">
            <a:avLst/>
          </a:prstGeom>
          <a:noFill/>
        </p:spPr>
        <p:txBody>
          <a:bodyPr wrap="square" lIns="0" rIns="0" tIns="0" bIns="0" anchor="t">
            <a:spAutoFit/>
          </a:bodyPr>
          <a:lstStyle/>
          <a:p>
            <a:pPr>
              <a:lnSpc>
                <a:spcPct val="110000"/>
              </a:lnSpc>
              <a:spcBef>
                <a:spcPts val="0"/>
              </a:spcBef>
              <a:spcAft>
                <a:spcPts val="0"/>
              </a:spcAft>
              <a:defRPr sz="1600" b="0">
                <a:solidFill>
                  <a:srgbClr val="61718D"/>
                </a:solidFill>
                <a:latin typeface="Manrope"/>
              </a:defRPr>
            </a:pPr>
            <a:r>
              <a:t>Compare</a:t>
            </a:r>
          </a:p>
          <a:p>
            <a:pPr>
              <a:lnSpc>
                <a:spcPct val="110000"/>
              </a:lnSpc>
              <a:spcBef>
                <a:spcPts val="0"/>
              </a:spcBef>
              <a:spcAft>
                <a:spcPts val="0"/>
              </a:spcAft>
              <a:defRPr sz="1600" b="0">
                <a:solidFill>
                  <a:srgbClr val="61718D"/>
                </a:solidFill>
                <a:latin typeface="Manrope"/>
              </a:defRPr>
            </a:pPr>
            <a:r>
              <a:t>+ connect</a:t>
            </a:r>
          </a:p>
        </p:txBody>
      </p:sp>
      <p:sp>
        <p:nvSpPr>
          <p:cNvPr id="25" name="TextBox 24"/>
          <p:cNvSpPr txBox="1"/>
          <p:nvPr/>
        </p:nvSpPr>
        <p:spPr>
          <a:xfrm>
            <a:off x="7132320" y="3447288"/>
            <a:ext cx="219456" cy="320040"/>
          </a:xfrm>
          <a:prstGeom prst="rect">
            <a:avLst/>
          </a:prstGeom>
          <a:noFill/>
        </p:spPr>
        <p:txBody>
          <a:bodyPr wrap="square" lIns="0" rIns="0" tIns="0" bIns="0" anchor="t">
            <a:spAutoFit/>
          </a:bodyPr>
          <a:lstStyle/>
          <a:p>
            <a:pPr>
              <a:lnSpc>
                <a:spcPct val="110000"/>
              </a:lnSpc>
              <a:spcBef>
                <a:spcPts val="0"/>
              </a:spcBef>
              <a:spcAft>
                <a:spcPts val="0"/>
              </a:spcAft>
              <a:defRPr sz="2400" b="1">
                <a:solidFill>
                  <a:srgbClr val="6257F5"/>
                </a:solidFill>
                <a:latin typeface="Manrope"/>
              </a:defRPr>
            </a:pPr>
            <a:r>
              <a:t>›</a:t>
            </a:r>
          </a:p>
        </p:txBody>
      </p:sp>
      <p:sp>
        <p:nvSpPr>
          <p:cNvPr id="26" name="Rounded Rectangle 25"/>
          <p:cNvSpPr/>
          <p:nvPr/>
        </p:nvSpPr>
        <p:spPr>
          <a:xfrm>
            <a:off x="7310628" y="2779776"/>
            <a:ext cx="1993392" cy="1700784"/>
          </a:xfrm>
          <a:prstGeom prst="roundRect">
            <a:avLst>
              <a:gd name="adj" fmla="val 12000"/>
            </a:avLst>
          </a:prstGeom>
          <a:solidFill>
            <a:srgbClr val="FFFFFF"/>
          </a:solidFill>
          <a:ln w="10160">
            <a:solidFill>
              <a:srgbClr val="DFE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3508" y="2971800"/>
            <a:ext cx="1554480" cy="228600"/>
          </a:xfrm>
          <a:prstGeom prst="rect">
            <a:avLst/>
          </a:prstGeom>
          <a:noFill/>
        </p:spPr>
        <p:txBody>
          <a:bodyPr wrap="square" lIns="0" rIns="0" tIns="0" bIns="0" anchor="t">
            <a:spAutoFit/>
          </a:bodyPr>
          <a:lstStyle/>
          <a:p>
            <a:pPr>
              <a:lnSpc>
                <a:spcPct val="110000"/>
              </a:lnSpc>
              <a:spcBef>
                <a:spcPts val="0"/>
              </a:spcBef>
              <a:spcAft>
                <a:spcPts val="0"/>
              </a:spcAft>
              <a:defRPr sz="1200" b="1">
                <a:solidFill>
                  <a:srgbClr val="6257F5"/>
                </a:solidFill>
                <a:latin typeface="Manrope"/>
              </a:defRPr>
            </a:pPr>
            <a:r>
              <a:t>04</a:t>
            </a:r>
          </a:p>
        </p:txBody>
      </p:sp>
      <p:sp>
        <p:nvSpPr>
          <p:cNvPr id="28" name="TextBox 27"/>
          <p:cNvSpPr txBox="1"/>
          <p:nvPr/>
        </p:nvSpPr>
        <p:spPr>
          <a:xfrm>
            <a:off x="7493508" y="3383280"/>
            <a:ext cx="1645920" cy="292608"/>
          </a:xfrm>
          <a:prstGeom prst="rect">
            <a:avLst/>
          </a:prstGeom>
          <a:noFill/>
        </p:spPr>
        <p:txBody>
          <a:bodyPr wrap="square" lIns="0" rIns="0" tIns="0" bIns="0" anchor="t">
            <a:spAutoFit/>
          </a:bodyPr>
          <a:lstStyle/>
          <a:p>
            <a:pPr>
              <a:lnSpc>
                <a:spcPct val="110000"/>
              </a:lnSpc>
              <a:spcBef>
                <a:spcPts val="0"/>
              </a:spcBef>
              <a:spcAft>
                <a:spcPts val="0"/>
              </a:spcAft>
              <a:defRPr sz="1900" b="1">
                <a:solidFill>
                  <a:srgbClr val="102346"/>
                </a:solidFill>
                <a:latin typeface="Manrope"/>
              </a:defRPr>
            </a:pPr>
            <a:r>
              <a:t>Hypothesis</a:t>
            </a:r>
          </a:p>
        </p:txBody>
      </p:sp>
      <p:sp>
        <p:nvSpPr>
          <p:cNvPr id="29" name="TextBox 28"/>
          <p:cNvSpPr txBox="1"/>
          <p:nvPr/>
        </p:nvSpPr>
        <p:spPr>
          <a:xfrm>
            <a:off x="7493508" y="3822191"/>
            <a:ext cx="1645920" cy="521207"/>
          </a:xfrm>
          <a:prstGeom prst="rect">
            <a:avLst/>
          </a:prstGeom>
          <a:noFill/>
        </p:spPr>
        <p:txBody>
          <a:bodyPr wrap="square" lIns="0" rIns="0" tIns="0" bIns="0" anchor="t">
            <a:spAutoFit/>
          </a:bodyPr>
          <a:lstStyle/>
          <a:p>
            <a:pPr>
              <a:lnSpc>
                <a:spcPct val="110000"/>
              </a:lnSpc>
              <a:spcBef>
                <a:spcPts val="0"/>
              </a:spcBef>
              <a:spcAft>
                <a:spcPts val="0"/>
              </a:spcAft>
              <a:defRPr sz="1600" b="0">
                <a:solidFill>
                  <a:srgbClr val="61718D"/>
                </a:solidFill>
                <a:latin typeface="Manrope"/>
              </a:defRPr>
            </a:pPr>
            <a:r>
              <a:t>Generate</a:t>
            </a:r>
          </a:p>
          <a:p>
            <a:pPr>
              <a:lnSpc>
                <a:spcPct val="110000"/>
              </a:lnSpc>
              <a:spcBef>
                <a:spcPts val="0"/>
              </a:spcBef>
              <a:spcAft>
                <a:spcPts val="0"/>
              </a:spcAft>
              <a:defRPr sz="1600" b="0">
                <a:solidFill>
                  <a:srgbClr val="61718D"/>
                </a:solidFill>
                <a:latin typeface="Manrope"/>
              </a:defRPr>
            </a:pPr>
            <a:r>
              <a:t>a proposal</a:t>
            </a:r>
          </a:p>
        </p:txBody>
      </p:sp>
      <p:sp>
        <p:nvSpPr>
          <p:cNvPr id="30" name="TextBox 29"/>
          <p:cNvSpPr txBox="1"/>
          <p:nvPr/>
        </p:nvSpPr>
        <p:spPr>
          <a:xfrm>
            <a:off x="9340596" y="3447288"/>
            <a:ext cx="219456" cy="320040"/>
          </a:xfrm>
          <a:prstGeom prst="rect">
            <a:avLst/>
          </a:prstGeom>
          <a:noFill/>
        </p:spPr>
        <p:txBody>
          <a:bodyPr wrap="square" lIns="0" rIns="0" tIns="0" bIns="0" anchor="t">
            <a:spAutoFit/>
          </a:bodyPr>
          <a:lstStyle/>
          <a:p>
            <a:pPr>
              <a:lnSpc>
                <a:spcPct val="110000"/>
              </a:lnSpc>
              <a:spcBef>
                <a:spcPts val="0"/>
              </a:spcBef>
              <a:spcAft>
                <a:spcPts val="0"/>
              </a:spcAft>
              <a:defRPr sz="2400" b="1">
                <a:solidFill>
                  <a:srgbClr val="6257F5"/>
                </a:solidFill>
                <a:latin typeface="Manrope"/>
              </a:defRPr>
            </a:pPr>
            <a:r>
              <a:t>›</a:t>
            </a:r>
          </a:p>
        </p:txBody>
      </p:sp>
      <p:sp>
        <p:nvSpPr>
          <p:cNvPr id="31" name="Rounded Rectangle 30"/>
          <p:cNvSpPr/>
          <p:nvPr/>
        </p:nvSpPr>
        <p:spPr>
          <a:xfrm>
            <a:off x="9518904" y="2779776"/>
            <a:ext cx="1993392" cy="1700784"/>
          </a:xfrm>
          <a:prstGeom prst="roundRect">
            <a:avLst>
              <a:gd name="adj" fmla="val 12000"/>
            </a:avLst>
          </a:prstGeom>
          <a:solidFill>
            <a:srgbClr val="FFFFFF"/>
          </a:solidFill>
          <a:ln w="10160">
            <a:solidFill>
              <a:srgbClr val="DFE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701784" y="2971800"/>
            <a:ext cx="1554480" cy="228600"/>
          </a:xfrm>
          <a:prstGeom prst="rect">
            <a:avLst/>
          </a:prstGeom>
          <a:noFill/>
        </p:spPr>
        <p:txBody>
          <a:bodyPr wrap="square" lIns="0" rIns="0" tIns="0" bIns="0" anchor="t">
            <a:spAutoFit/>
          </a:bodyPr>
          <a:lstStyle/>
          <a:p>
            <a:pPr>
              <a:lnSpc>
                <a:spcPct val="110000"/>
              </a:lnSpc>
              <a:spcBef>
                <a:spcPts val="0"/>
              </a:spcBef>
              <a:spcAft>
                <a:spcPts val="0"/>
              </a:spcAft>
              <a:defRPr sz="1200" b="1">
                <a:solidFill>
                  <a:srgbClr val="6257F5"/>
                </a:solidFill>
                <a:latin typeface="Manrope"/>
              </a:defRPr>
            </a:pPr>
            <a:r>
              <a:t>05</a:t>
            </a:r>
          </a:p>
        </p:txBody>
      </p:sp>
      <p:sp>
        <p:nvSpPr>
          <p:cNvPr id="33" name="TextBox 32"/>
          <p:cNvSpPr txBox="1"/>
          <p:nvPr/>
        </p:nvSpPr>
        <p:spPr>
          <a:xfrm>
            <a:off x="9701784" y="3383280"/>
            <a:ext cx="1645920" cy="292608"/>
          </a:xfrm>
          <a:prstGeom prst="rect">
            <a:avLst/>
          </a:prstGeom>
          <a:noFill/>
        </p:spPr>
        <p:txBody>
          <a:bodyPr wrap="square" lIns="0" rIns="0" tIns="0" bIns="0" anchor="t">
            <a:spAutoFit/>
          </a:bodyPr>
          <a:lstStyle/>
          <a:p>
            <a:pPr>
              <a:lnSpc>
                <a:spcPct val="110000"/>
              </a:lnSpc>
              <a:spcBef>
                <a:spcPts val="0"/>
              </a:spcBef>
              <a:spcAft>
                <a:spcPts val="0"/>
              </a:spcAft>
              <a:defRPr sz="1900" b="1">
                <a:solidFill>
                  <a:srgbClr val="102346"/>
                </a:solidFill>
                <a:latin typeface="Manrope"/>
              </a:defRPr>
            </a:pPr>
            <a:r>
              <a:t>Experiment</a:t>
            </a:r>
          </a:p>
        </p:txBody>
      </p:sp>
      <p:sp>
        <p:nvSpPr>
          <p:cNvPr id="34" name="TextBox 33"/>
          <p:cNvSpPr txBox="1"/>
          <p:nvPr/>
        </p:nvSpPr>
        <p:spPr>
          <a:xfrm>
            <a:off x="9701784" y="3822191"/>
            <a:ext cx="1645920" cy="521207"/>
          </a:xfrm>
          <a:prstGeom prst="rect">
            <a:avLst/>
          </a:prstGeom>
          <a:noFill/>
        </p:spPr>
        <p:txBody>
          <a:bodyPr wrap="square" lIns="0" rIns="0" tIns="0" bIns="0" anchor="t">
            <a:spAutoFit/>
          </a:bodyPr>
          <a:lstStyle/>
          <a:p>
            <a:pPr>
              <a:lnSpc>
                <a:spcPct val="110000"/>
              </a:lnSpc>
              <a:spcBef>
                <a:spcPts val="0"/>
              </a:spcBef>
              <a:spcAft>
                <a:spcPts val="0"/>
              </a:spcAft>
              <a:defRPr sz="1600" b="0">
                <a:solidFill>
                  <a:srgbClr val="61718D"/>
                </a:solidFill>
                <a:latin typeface="Manrope"/>
              </a:defRPr>
            </a:pPr>
            <a:r>
              <a:t>Edit a</a:t>
            </a:r>
          </a:p>
          <a:p>
            <a:pPr>
              <a:lnSpc>
                <a:spcPct val="110000"/>
              </a:lnSpc>
              <a:spcBef>
                <a:spcPts val="0"/>
              </a:spcBef>
              <a:spcAft>
                <a:spcPts val="0"/>
              </a:spcAft>
              <a:defRPr sz="1600" b="0">
                <a:solidFill>
                  <a:srgbClr val="61718D"/>
                </a:solidFill>
                <a:latin typeface="Manrope"/>
              </a:defRPr>
            </a:pPr>
            <a:r>
              <a:t>first test</a:t>
            </a:r>
          </a:p>
        </p:txBody>
      </p:sp>
      <p:sp>
        <p:nvSpPr>
          <p:cNvPr id="35" name="TextBox 34"/>
          <p:cNvSpPr txBox="1"/>
          <p:nvPr/>
        </p:nvSpPr>
        <p:spPr>
          <a:xfrm>
            <a:off x="713232" y="4846320"/>
            <a:ext cx="2743200" cy="256032"/>
          </a:xfrm>
          <a:prstGeom prst="rect">
            <a:avLst/>
          </a:prstGeom>
          <a:noFill/>
        </p:spPr>
        <p:txBody>
          <a:bodyPr wrap="square" lIns="0" rIns="0" tIns="0" bIns="0" anchor="t">
            <a:spAutoFit/>
          </a:bodyPr>
          <a:lstStyle/>
          <a:p>
            <a:pPr>
              <a:lnSpc>
                <a:spcPct val="110000"/>
              </a:lnSpc>
              <a:spcBef>
                <a:spcPts val="0"/>
              </a:spcBef>
              <a:spcAft>
                <a:spcPts val="0"/>
              </a:spcAft>
              <a:defRPr sz="1100" b="1">
                <a:solidFill>
                  <a:srgbClr val="61718D"/>
                </a:solidFill>
                <a:latin typeface="Manrope"/>
              </a:defRPr>
            </a:pPr>
            <a:r>
              <a:t>FREE-PAPER DISCOVERY</a:t>
            </a:r>
          </a:p>
        </p:txBody>
      </p:sp>
      <p:sp>
        <p:nvSpPr>
          <p:cNvPr id="36" name="Rounded Rectangle 35"/>
          <p:cNvSpPr/>
          <p:nvPr/>
        </p:nvSpPr>
        <p:spPr>
          <a:xfrm>
            <a:off x="3090672" y="4736592"/>
            <a:ext cx="2148840" cy="466344"/>
          </a:xfrm>
          <a:prstGeom prst="roundRect">
            <a:avLst>
              <a:gd name="adj" fmla="val 12000"/>
            </a:avLst>
          </a:prstGeom>
          <a:solidFill>
            <a:srgbClr val="F0E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255264" y="4846320"/>
            <a:ext cx="1874520" cy="246888"/>
          </a:xfrm>
          <a:prstGeom prst="rect">
            <a:avLst/>
          </a:prstGeom>
          <a:noFill/>
        </p:spPr>
        <p:txBody>
          <a:bodyPr wrap="square" lIns="0" rIns="0" tIns="0" bIns="0" anchor="t">
            <a:spAutoFit/>
          </a:bodyPr>
          <a:lstStyle/>
          <a:p>
            <a:pPr>
              <a:lnSpc>
                <a:spcPct val="110000"/>
              </a:lnSpc>
              <a:spcBef>
                <a:spcPts val="0"/>
              </a:spcBef>
              <a:spcAft>
                <a:spcPts val="0"/>
              </a:spcAft>
              <a:defRPr sz="1500" b="1">
                <a:solidFill>
                  <a:srgbClr val="102346"/>
                </a:solidFill>
                <a:latin typeface="Manrope"/>
              </a:defRPr>
            </a:pPr>
            <a:r>
              <a:t>OpenAlex</a:t>
            </a:r>
          </a:p>
        </p:txBody>
      </p:sp>
      <p:sp>
        <p:nvSpPr>
          <p:cNvPr id="38" name="Rounded Rectangle 37"/>
          <p:cNvSpPr/>
          <p:nvPr/>
        </p:nvSpPr>
        <p:spPr>
          <a:xfrm>
            <a:off x="5431536" y="4736592"/>
            <a:ext cx="2560320" cy="466344"/>
          </a:xfrm>
          <a:prstGeom prst="roundRect">
            <a:avLst>
              <a:gd name="adj" fmla="val 12000"/>
            </a:avLst>
          </a:prstGeom>
          <a:solidFill>
            <a:srgbClr val="EA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596128" y="4846320"/>
            <a:ext cx="2286000" cy="246888"/>
          </a:xfrm>
          <a:prstGeom prst="rect">
            <a:avLst/>
          </a:prstGeom>
          <a:noFill/>
        </p:spPr>
        <p:txBody>
          <a:bodyPr wrap="square" lIns="0" rIns="0" tIns="0" bIns="0" anchor="t">
            <a:spAutoFit/>
          </a:bodyPr>
          <a:lstStyle/>
          <a:p>
            <a:pPr>
              <a:lnSpc>
                <a:spcPct val="110000"/>
              </a:lnSpc>
              <a:spcBef>
                <a:spcPts val="0"/>
              </a:spcBef>
              <a:spcAft>
                <a:spcPts val="0"/>
              </a:spcAft>
              <a:defRPr sz="1500" b="1">
                <a:solidFill>
                  <a:srgbClr val="102346"/>
                </a:solidFill>
                <a:latin typeface="Manrope"/>
              </a:defRPr>
            </a:pPr>
            <a:r>
              <a:t>Europe PMC</a:t>
            </a:r>
          </a:p>
        </p:txBody>
      </p:sp>
      <p:sp>
        <p:nvSpPr>
          <p:cNvPr id="40" name="Rounded Rectangle 39"/>
          <p:cNvSpPr/>
          <p:nvPr/>
        </p:nvSpPr>
        <p:spPr>
          <a:xfrm>
            <a:off x="8183879" y="4736592"/>
            <a:ext cx="1783080" cy="466344"/>
          </a:xfrm>
          <a:prstGeom prst="roundRect">
            <a:avLst>
              <a:gd name="adj" fmla="val 12000"/>
            </a:avLst>
          </a:prstGeom>
          <a:solidFill>
            <a:srgbClr val="F0E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48471" y="4846320"/>
            <a:ext cx="1508760" cy="246888"/>
          </a:xfrm>
          <a:prstGeom prst="rect">
            <a:avLst/>
          </a:prstGeom>
          <a:noFill/>
        </p:spPr>
        <p:txBody>
          <a:bodyPr wrap="square" lIns="0" rIns="0" tIns="0" bIns="0" anchor="t">
            <a:spAutoFit/>
          </a:bodyPr>
          <a:lstStyle/>
          <a:p>
            <a:pPr>
              <a:lnSpc>
                <a:spcPct val="110000"/>
              </a:lnSpc>
              <a:spcBef>
                <a:spcPts val="0"/>
              </a:spcBef>
              <a:spcAft>
                <a:spcPts val="0"/>
              </a:spcAft>
              <a:defRPr sz="1500" b="1">
                <a:solidFill>
                  <a:srgbClr val="102346"/>
                </a:solidFill>
                <a:latin typeface="Manrope"/>
              </a:defRPr>
            </a:pPr>
            <a:r>
              <a:t>arXiv</a:t>
            </a:r>
          </a:p>
        </p:txBody>
      </p:sp>
      <p:sp>
        <p:nvSpPr>
          <p:cNvPr id="42" name="TextBox 41"/>
          <p:cNvSpPr txBox="1"/>
          <p:nvPr/>
        </p:nvSpPr>
        <p:spPr>
          <a:xfrm>
            <a:off x="713232" y="5504688"/>
            <a:ext cx="10698480" cy="530352"/>
          </a:xfrm>
          <a:prstGeom prst="rect">
            <a:avLst/>
          </a:prstGeom>
          <a:noFill/>
        </p:spPr>
        <p:txBody>
          <a:bodyPr wrap="square" lIns="0" rIns="0" tIns="0" bIns="0" anchor="t">
            <a:spAutoFit/>
          </a:bodyPr>
          <a:lstStyle/>
          <a:p>
            <a:pPr>
              <a:lnSpc>
                <a:spcPct val="110000"/>
              </a:lnSpc>
              <a:spcBef>
                <a:spcPts val="0"/>
              </a:spcBef>
              <a:spcAft>
                <a:spcPts val="0"/>
              </a:spcAft>
              <a:defRPr sz="2000" b="1">
                <a:solidFill>
                  <a:srgbClr val="6257F5"/>
                </a:solidFill>
                <a:latin typeface="Manrope"/>
              </a:defRPr>
            </a:pPr>
            <a:r>
              <a:t>Your data, equipment, skills, and deadline guide the proposal.</a:t>
            </a:r>
          </a:p>
        </p:txBody>
      </p:sp>
      <p:sp>
        <p:nvSpPr>
          <p:cNvPr id="43" name="TextBox 42"/>
          <p:cNvSpPr txBox="1"/>
          <p:nvPr/>
        </p:nvSpPr>
        <p:spPr>
          <a:xfrm>
            <a:off x="713232" y="6044184"/>
            <a:ext cx="10698480" cy="210312"/>
          </a:xfrm>
          <a:prstGeom prst="rect">
            <a:avLst/>
          </a:prstGeom>
          <a:noFill/>
        </p:spPr>
        <p:txBody>
          <a:bodyPr wrap="square" lIns="0" rIns="0" tIns="0" bIns="0" anchor="t">
            <a:spAutoFit/>
          </a:bodyPr>
          <a:lstStyle/>
          <a:p>
            <a:pPr>
              <a:lnSpc>
                <a:spcPct val="110000"/>
              </a:lnSpc>
              <a:spcBef>
                <a:spcPts val="0"/>
              </a:spcBef>
              <a:spcAft>
                <a:spcPts val="0"/>
              </a:spcAft>
              <a:defRPr sz="1200" b="0">
                <a:solidFill>
                  <a:srgbClr val="61718D"/>
                </a:solidFill>
                <a:latin typeface="Manrope"/>
              </a:defRPr>
            </a:pPr>
            <a:r>
              <a:t>Available abstracts and article text are clearly labeled.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8F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10241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aperbridge-logo.png"/>
          <p:cNvPicPr>
            <a:picLocks noChangeAspect="1"/>
          </p:cNvPicPr>
          <p:nvPr/>
        </p:nvPicPr>
        <p:blipFill>
          <a:blip r:embed="rId2"/>
          <a:stretch>
            <a:fillRect/>
          </a:stretch>
        </p:blipFill>
        <p:spPr>
          <a:xfrm>
            <a:off x="566928" y="146304"/>
            <a:ext cx="1572768" cy="731520"/>
          </a:xfrm>
          <a:prstGeom prst="rect">
            <a:avLst/>
          </a:prstGeom>
        </p:spPr>
      </p:pic>
      <p:sp>
        <p:nvSpPr>
          <p:cNvPr id="5" name="TextBox 4"/>
          <p:cNvSpPr txBox="1"/>
          <p:nvPr/>
        </p:nvSpPr>
        <p:spPr>
          <a:xfrm>
            <a:off x="8229600" y="420624"/>
            <a:ext cx="3337560" cy="228600"/>
          </a:xfrm>
          <a:prstGeom prst="rect">
            <a:avLst/>
          </a:prstGeom>
          <a:noFill/>
        </p:spPr>
        <p:txBody>
          <a:bodyPr wrap="square" lIns="0" rIns="0" tIns="0" bIns="0" anchor="t">
            <a:spAutoFit/>
          </a:bodyPr>
          <a:lstStyle/>
          <a:p>
            <a:pPr>
              <a:lnSpc>
                <a:spcPct val="110000"/>
              </a:lnSpc>
              <a:spcBef>
                <a:spcPts val="0"/>
              </a:spcBef>
              <a:spcAft>
                <a:spcPts val="0"/>
              </a:spcAft>
              <a:defRPr sz="1100" b="1">
                <a:solidFill>
                  <a:srgbClr val="61718D"/>
                </a:solidFill>
                <a:latin typeface="Manrope"/>
              </a:defRPr>
            </a:pPr>
            <a:r>
              <a:t>EVIDENCE &amp; ACTION</a:t>
            </a:r>
          </a:p>
        </p:txBody>
      </p:sp>
      <p:cxnSp>
        <p:nvCxnSpPr>
          <p:cNvPr id="6" name="Connector 5"/>
          <p:cNvCxnSpPr/>
          <p:nvPr/>
        </p:nvCxnSpPr>
        <p:spPr>
          <a:xfrm>
            <a:off x="594360" y="1024128"/>
            <a:ext cx="11000232" cy="0"/>
          </a:xfrm>
          <a:prstGeom prst="line">
            <a:avLst/>
          </a:prstGeom>
          <a:ln w="10160">
            <a:solidFill>
              <a:srgbClr val="DFE5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21792" y="6473952"/>
            <a:ext cx="7315200" cy="182880"/>
          </a:xfrm>
          <a:prstGeom prst="rect">
            <a:avLst/>
          </a:prstGeom>
          <a:noFill/>
        </p:spPr>
        <p:txBody>
          <a:bodyPr wrap="square" lIns="0" rIns="0" tIns="0" bIns="0" anchor="t">
            <a:spAutoFit/>
          </a:bodyPr>
          <a:lstStyle/>
          <a:p>
            <a:pPr>
              <a:lnSpc>
                <a:spcPct val="110000"/>
              </a:lnSpc>
              <a:spcBef>
                <a:spcPts val="0"/>
              </a:spcBef>
              <a:spcAft>
                <a:spcPts val="0"/>
              </a:spcAft>
              <a:defRPr sz="1000" b="0">
                <a:solidFill>
                  <a:srgbClr val="61718D"/>
                </a:solidFill>
                <a:latin typeface="Manrope"/>
              </a:defRPr>
            </a:pPr>
            <a:r>
              <a:t>PaperBridge  /  Research workspace</a:t>
            </a:r>
          </a:p>
        </p:txBody>
      </p:sp>
      <p:sp>
        <p:nvSpPr>
          <p:cNvPr id="8" name="TextBox 7"/>
          <p:cNvSpPr txBox="1"/>
          <p:nvPr/>
        </p:nvSpPr>
        <p:spPr>
          <a:xfrm>
            <a:off x="10698480" y="6473952"/>
            <a:ext cx="914400" cy="182880"/>
          </a:xfrm>
          <a:prstGeom prst="rect">
            <a:avLst/>
          </a:prstGeom>
          <a:noFill/>
        </p:spPr>
        <p:txBody>
          <a:bodyPr wrap="square" lIns="0" rIns="0" tIns="0" bIns="0" anchor="t">
            <a:spAutoFit/>
          </a:bodyPr>
          <a:lstStyle/>
          <a:p>
            <a:pPr>
              <a:lnSpc>
                <a:spcPct val="110000"/>
              </a:lnSpc>
              <a:spcBef>
                <a:spcPts val="0"/>
              </a:spcBef>
              <a:spcAft>
                <a:spcPts val="0"/>
              </a:spcAft>
              <a:defRPr sz="1000" b="1">
                <a:solidFill>
                  <a:srgbClr val="61718D"/>
                </a:solidFill>
                <a:latin typeface="Manrope"/>
              </a:defRPr>
            </a:pPr>
            <a:r>
              <a:t>03 / 04</a:t>
            </a:r>
          </a:p>
        </p:txBody>
      </p:sp>
      <p:sp>
        <p:nvSpPr>
          <p:cNvPr id="9" name="TextBox 8"/>
          <p:cNvSpPr txBox="1"/>
          <p:nvPr/>
        </p:nvSpPr>
        <p:spPr>
          <a:xfrm>
            <a:off x="685800" y="1389888"/>
            <a:ext cx="10789920" cy="594360"/>
          </a:xfrm>
          <a:prstGeom prst="rect">
            <a:avLst/>
          </a:prstGeom>
          <a:noFill/>
        </p:spPr>
        <p:txBody>
          <a:bodyPr wrap="square" lIns="0" rIns="0" tIns="0" bIns="0" anchor="t">
            <a:spAutoFit/>
          </a:bodyPr>
          <a:lstStyle/>
          <a:p>
            <a:pPr>
              <a:lnSpc>
                <a:spcPct val="110000"/>
              </a:lnSpc>
              <a:spcBef>
                <a:spcPts val="0"/>
              </a:spcBef>
              <a:spcAft>
                <a:spcPts val="0"/>
              </a:spcAft>
              <a:defRPr sz="3600" b="1">
                <a:solidFill>
                  <a:srgbClr val="102346"/>
                </a:solidFill>
                <a:latin typeface="Manrope"/>
              </a:defRPr>
            </a:pPr>
            <a:r>
              <a:t>Ideas you can inspect</a:t>
            </a:r>
          </a:p>
        </p:txBody>
      </p:sp>
      <p:sp>
        <p:nvSpPr>
          <p:cNvPr id="10" name="TextBox 9"/>
          <p:cNvSpPr txBox="1"/>
          <p:nvPr/>
        </p:nvSpPr>
        <p:spPr>
          <a:xfrm>
            <a:off x="713232" y="2103120"/>
            <a:ext cx="10698480" cy="347472"/>
          </a:xfrm>
          <a:prstGeom prst="rect">
            <a:avLst/>
          </a:prstGeom>
          <a:noFill/>
        </p:spPr>
        <p:txBody>
          <a:bodyPr wrap="square" lIns="0" rIns="0" tIns="0" bIns="0" anchor="t">
            <a:spAutoFit/>
          </a:bodyPr>
          <a:lstStyle/>
          <a:p>
            <a:pPr>
              <a:lnSpc>
                <a:spcPct val="110000"/>
              </a:lnSpc>
              <a:spcBef>
                <a:spcPts val="0"/>
              </a:spcBef>
              <a:spcAft>
                <a:spcPts val="0"/>
              </a:spcAft>
              <a:defRPr sz="2000" b="0">
                <a:solidFill>
                  <a:srgbClr val="61718D"/>
                </a:solidFill>
                <a:latin typeface="Manrope"/>
              </a:defRPr>
            </a:pPr>
            <a:r>
              <a:t>Understand the reasoning behind a proposed next step.</a:t>
            </a:r>
          </a:p>
        </p:txBody>
      </p:sp>
      <p:sp>
        <p:nvSpPr>
          <p:cNvPr id="11" name="Rounded Rectangle 10"/>
          <p:cNvSpPr/>
          <p:nvPr/>
        </p:nvSpPr>
        <p:spPr>
          <a:xfrm>
            <a:off x="713232" y="2816352"/>
            <a:ext cx="429768" cy="429768"/>
          </a:xfrm>
          <a:prstGeom prst="roundRect">
            <a:avLst>
              <a:gd name="adj" fmla="val 12000"/>
            </a:avLst>
          </a:prstGeom>
          <a:solidFill>
            <a:srgbClr val="F0E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2907792"/>
            <a:ext cx="320040" cy="219456"/>
          </a:xfrm>
          <a:prstGeom prst="rect">
            <a:avLst/>
          </a:prstGeom>
          <a:noFill/>
        </p:spPr>
        <p:txBody>
          <a:bodyPr wrap="square" lIns="0" rIns="0" tIns="0" bIns="0" anchor="t">
            <a:spAutoFit/>
          </a:bodyPr>
          <a:lstStyle/>
          <a:p>
            <a:pPr>
              <a:lnSpc>
                <a:spcPct val="110000"/>
              </a:lnSpc>
              <a:spcBef>
                <a:spcPts val="0"/>
              </a:spcBef>
              <a:spcAft>
                <a:spcPts val="0"/>
              </a:spcAft>
              <a:defRPr sz="1200" b="1">
                <a:solidFill>
                  <a:srgbClr val="6257F5"/>
                </a:solidFill>
                <a:latin typeface="Manrope"/>
              </a:defRPr>
            </a:pPr>
            <a:r>
              <a:t>01</a:t>
            </a:r>
          </a:p>
        </p:txBody>
      </p:sp>
      <p:sp>
        <p:nvSpPr>
          <p:cNvPr id="13" name="TextBox 12"/>
          <p:cNvSpPr txBox="1"/>
          <p:nvPr/>
        </p:nvSpPr>
        <p:spPr>
          <a:xfrm>
            <a:off x="1316736" y="2843784"/>
            <a:ext cx="4434840" cy="576072"/>
          </a:xfrm>
          <a:prstGeom prst="rect">
            <a:avLst/>
          </a:prstGeom>
          <a:noFill/>
        </p:spPr>
        <p:txBody>
          <a:bodyPr wrap="square" lIns="0" rIns="0" tIns="0" bIns="0" anchor="t">
            <a:spAutoFit/>
          </a:bodyPr>
          <a:lstStyle/>
          <a:p>
            <a:pPr>
              <a:lnSpc>
                <a:spcPct val="110000"/>
              </a:lnSpc>
              <a:spcBef>
                <a:spcPts val="0"/>
              </a:spcBef>
              <a:spcAft>
                <a:spcPts val="0"/>
              </a:spcAft>
              <a:defRPr sz="2000" b="1">
                <a:solidFill>
                  <a:srgbClr val="102346"/>
                </a:solidFill>
                <a:latin typeface="Manrope"/>
              </a:defRPr>
            </a:pPr>
            <a:r>
              <a:t>Trace citations to source passages</a:t>
            </a:r>
          </a:p>
        </p:txBody>
      </p:sp>
      <p:sp>
        <p:nvSpPr>
          <p:cNvPr id="14" name="Rounded Rectangle 13"/>
          <p:cNvSpPr/>
          <p:nvPr/>
        </p:nvSpPr>
        <p:spPr>
          <a:xfrm>
            <a:off x="713232" y="3685032"/>
            <a:ext cx="429768" cy="429768"/>
          </a:xfrm>
          <a:prstGeom prst="roundRect">
            <a:avLst>
              <a:gd name="adj" fmla="val 12000"/>
            </a:avLst>
          </a:prstGeom>
          <a:solidFill>
            <a:srgbClr val="F0E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3776472"/>
            <a:ext cx="320040" cy="219456"/>
          </a:xfrm>
          <a:prstGeom prst="rect">
            <a:avLst/>
          </a:prstGeom>
          <a:noFill/>
        </p:spPr>
        <p:txBody>
          <a:bodyPr wrap="square" lIns="0" rIns="0" tIns="0" bIns="0" anchor="t">
            <a:spAutoFit/>
          </a:bodyPr>
          <a:lstStyle/>
          <a:p>
            <a:pPr>
              <a:lnSpc>
                <a:spcPct val="110000"/>
              </a:lnSpc>
              <a:spcBef>
                <a:spcPts val="0"/>
              </a:spcBef>
              <a:spcAft>
                <a:spcPts val="0"/>
              </a:spcAft>
              <a:defRPr sz="1200" b="1">
                <a:solidFill>
                  <a:srgbClr val="6257F5"/>
                </a:solidFill>
                <a:latin typeface="Manrope"/>
              </a:defRPr>
            </a:pPr>
            <a:r>
              <a:t>02</a:t>
            </a:r>
          </a:p>
        </p:txBody>
      </p:sp>
      <p:sp>
        <p:nvSpPr>
          <p:cNvPr id="16" name="TextBox 15"/>
          <p:cNvSpPr txBox="1"/>
          <p:nvPr/>
        </p:nvSpPr>
        <p:spPr>
          <a:xfrm>
            <a:off x="1316736" y="3712464"/>
            <a:ext cx="4434840" cy="576072"/>
          </a:xfrm>
          <a:prstGeom prst="rect">
            <a:avLst/>
          </a:prstGeom>
          <a:noFill/>
        </p:spPr>
        <p:txBody>
          <a:bodyPr wrap="square" lIns="0" rIns="0" tIns="0" bIns="0" anchor="t">
            <a:spAutoFit/>
          </a:bodyPr>
          <a:lstStyle/>
          <a:p>
            <a:pPr>
              <a:lnSpc>
                <a:spcPct val="110000"/>
              </a:lnSpc>
              <a:spcBef>
                <a:spcPts val="0"/>
              </a:spcBef>
              <a:spcAft>
                <a:spcPts val="0"/>
              </a:spcAft>
              <a:defRPr sz="2000" b="1">
                <a:solidFill>
                  <a:srgbClr val="102346"/>
                </a:solidFill>
                <a:latin typeface="Manrope"/>
              </a:defRPr>
            </a:pPr>
            <a:r>
              <a:t>See abstract and article-text coverage</a:t>
            </a:r>
          </a:p>
        </p:txBody>
      </p:sp>
      <p:sp>
        <p:nvSpPr>
          <p:cNvPr id="17" name="Rounded Rectangle 16"/>
          <p:cNvSpPr/>
          <p:nvPr/>
        </p:nvSpPr>
        <p:spPr>
          <a:xfrm>
            <a:off x="713232" y="4553712"/>
            <a:ext cx="429768" cy="429768"/>
          </a:xfrm>
          <a:prstGeom prst="roundRect">
            <a:avLst>
              <a:gd name="adj" fmla="val 12000"/>
            </a:avLst>
          </a:prstGeom>
          <a:solidFill>
            <a:srgbClr val="F0E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4645152"/>
            <a:ext cx="320040" cy="219456"/>
          </a:xfrm>
          <a:prstGeom prst="rect">
            <a:avLst/>
          </a:prstGeom>
          <a:noFill/>
        </p:spPr>
        <p:txBody>
          <a:bodyPr wrap="square" lIns="0" rIns="0" tIns="0" bIns="0" anchor="t">
            <a:spAutoFit/>
          </a:bodyPr>
          <a:lstStyle/>
          <a:p>
            <a:pPr>
              <a:lnSpc>
                <a:spcPct val="110000"/>
              </a:lnSpc>
              <a:spcBef>
                <a:spcPts val="0"/>
              </a:spcBef>
              <a:spcAft>
                <a:spcPts val="0"/>
              </a:spcAft>
              <a:defRPr sz="1200" b="1">
                <a:solidFill>
                  <a:srgbClr val="6257F5"/>
                </a:solidFill>
                <a:latin typeface="Manrope"/>
              </a:defRPr>
            </a:pPr>
            <a:r>
              <a:t>03</a:t>
            </a:r>
          </a:p>
        </p:txBody>
      </p:sp>
      <p:sp>
        <p:nvSpPr>
          <p:cNvPr id="19" name="TextBox 18"/>
          <p:cNvSpPr txBox="1"/>
          <p:nvPr/>
        </p:nvSpPr>
        <p:spPr>
          <a:xfrm>
            <a:off x="1316736" y="4581144"/>
            <a:ext cx="4434840" cy="576072"/>
          </a:xfrm>
          <a:prstGeom prst="rect">
            <a:avLst/>
          </a:prstGeom>
          <a:noFill/>
        </p:spPr>
        <p:txBody>
          <a:bodyPr wrap="square" lIns="0" rIns="0" tIns="0" bIns="0" anchor="t">
            <a:spAutoFit/>
          </a:bodyPr>
          <a:lstStyle/>
          <a:p>
            <a:pPr>
              <a:lnSpc>
                <a:spcPct val="110000"/>
              </a:lnSpc>
              <a:spcBef>
                <a:spcPts val="0"/>
              </a:spcBef>
              <a:spcAft>
                <a:spcPts val="0"/>
              </a:spcAft>
              <a:defRPr sz="2000" b="1">
                <a:solidFill>
                  <a:srgbClr val="102346"/>
                </a:solidFill>
                <a:latin typeface="Manrope"/>
              </a:defRPr>
            </a:pPr>
            <a:r>
              <a:t>Inspect assumptions and unknowns</a:t>
            </a:r>
          </a:p>
        </p:txBody>
      </p:sp>
      <p:sp>
        <p:nvSpPr>
          <p:cNvPr id="20" name="Rounded Rectangle 19"/>
          <p:cNvSpPr/>
          <p:nvPr/>
        </p:nvSpPr>
        <p:spPr>
          <a:xfrm>
            <a:off x="6309360" y="2724912"/>
            <a:ext cx="5175504" cy="3035808"/>
          </a:xfrm>
          <a:prstGeom prst="roundRect">
            <a:avLst>
              <a:gd name="adj" fmla="val 12000"/>
            </a:avLst>
          </a:prstGeom>
          <a:solidFill>
            <a:srgbClr val="FFFFFF"/>
          </a:solidFill>
          <a:ln w="10160">
            <a:solidFill>
              <a:srgbClr val="DFE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65392" y="2999232"/>
            <a:ext cx="4617720" cy="365760"/>
          </a:xfrm>
          <a:prstGeom prst="rect">
            <a:avLst/>
          </a:prstGeom>
          <a:noFill/>
        </p:spPr>
        <p:txBody>
          <a:bodyPr wrap="square" lIns="0" rIns="0" tIns="0" bIns="0" anchor="t">
            <a:spAutoFit/>
          </a:bodyPr>
          <a:lstStyle/>
          <a:p>
            <a:pPr>
              <a:lnSpc>
                <a:spcPct val="110000"/>
              </a:lnSpc>
              <a:spcBef>
                <a:spcPts val="0"/>
              </a:spcBef>
              <a:spcAft>
                <a:spcPts val="0"/>
              </a:spcAft>
              <a:defRPr sz="2500" b="1">
                <a:solidFill>
                  <a:srgbClr val="102346"/>
                </a:solidFill>
                <a:latin typeface="Manrope"/>
              </a:defRPr>
            </a:pPr>
            <a:r>
              <a:t>Experiment proposal</a:t>
            </a:r>
          </a:p>
        </p:txBody>
      </p:sp>
      <p:sp>
        <p:nvSpPr>
          <p:cNvPr id="22" name="TextBox 21"/>
          <p:cNvSpPr txBox="1"/>
          <p:nvPr/>
        </p:nvSpPr>
        <p:spPr>
          <a:xfrm>
            <a:off x="6601968" y="3657600"/>
            <a:ext cx="4526280" cy="301752"/>
          </a:xfrm>
          <a:prstGeom prst="rect">
            <a:avLst/>
          </a:prstGeom>
          <a:noFill/>
        </p:spPr>
        <p:txBody>
          <a:bodyPr wrap="square" lIns="0" rIns="0" tIns="0" bIns="0" anchor="t">
            <a:spAutoFit/>
          </a:bodyPr>
          <a:lstStyle/>
          <a:p>
            <a:pPr>
              <a:lnSpc>
                <a:spcPct val="110000"/>
              </a:lnSpc>
              <a:spcBef>
                <a:spcPts val="0"/>
              </a:spcBef>
              <a:spcAft>
                <a:spcPts val="0"/>
              </a:spcAft>
              <a:defRPr sz="1700" b="0">
                <a:solidFill>
                  <a:srgbClr val="61718D"/>
                </a:solidFill>
                <a:latin typeface="Manrope"/>
              </a:defRPr>
            </a:pPr>
            <a:r>
              <a:t>•  Research question &amp; required data</a:t>
            </a:r>
          </a:p>
        </p:txBody>
      </p:sp>
      <p:sp>
        <p:nvSpPr>
          <p:cNvPr id="23" name="TextBox 22"/>
          <p:cNvSpPr txBox="1"/>
          <p:nvPr/>
        </p:nvSpPr>
        <p:spPr>
          <a:xfrm>
            <a:off x="6601968" y="4096512"/>
            <a:ext cx="4526280" cy="301752"/>
          </a:xfrm>
          <a:prstGeom prst="rect">
            <a:avLst/>
          </a:prstGeom>
          <a:noFill/>
        </p:spPr>
        <p:txBody>
          <a:bodyPr wrap="square" lIns="0" rIns="0" tIns="0" bIns="0" anchor="t">
            <a:spAutoFit/>
          </a:bodyPr>
          <a:lstStyle/>
          <a:p>
            <a:pPr>
              <a:lnSpc>
                <a:spcPct val="110000"/>
              </a:lnSpc>
              <a:spcBef>
                <a:spcPts val="0"/>
              </a:spcBef>
              <a:spcAft>
                <a:spcPts val="0"/>
              </a:spcAft>
              <a:defRPr sz="1700" b="0">
                <a:solidFill>
                  <a:srgbClr val="61718D"/>
                </a:solidFill>
                <a:latin typeface="Manrope"/>
              </a:defRPr>
            </a:pPr>
            <a:r>
              <a:t>•  Method &amp; baseline comparison</a:t>
            </a:r>
          </a:p>
        </p:txBody>
      </p:sp>
      <p:sp>
        <p:nvSpPr>
          <p:cNvPr id="24" name="TextBox 23"/>
          <p:cNvSpPr txBox="1"/>
          <p:nvPr/>
        </p:nvSpPr>
        <p:spPr>
          <a:xfrm>
            <a:off x="6601968" y="4535424"/>
            <a:ext cx="4526280" cy="301752"/>
          </a:xfrm>
          <a:prstGeom prst="rect">
            <a:avLst/>
          </a:prstGeom>
          <a:noFill/>
        </p:spPr>
        <p:txBody>
          <a:bodyPr wrap="square" lIns="0" rIns="0" tIns="0" bIns="0" anchor="t">
            <a:spAutoFit/>
          </a:bodyPr>
          <a:lstStyle/>
          <a:p>
            <a:pPr>
              <a:lnSpc>
                <a:spcPct val="110000"/>
              </a:lnSpc>
              <a:spcBef>
                <a:spcPts val="0"/>
              </a:spcBef>
              <a:spcAft>
                <a:spcPts val="0"/>
              </a:spcAft>
              <a:defRPr sz="1700" b="0">
                <a:solidFill>
                  <a:srgbClr val="61718D"/>
                </a:solidFill>
                <a:latin typeface="Manrope"/>
              </a:defRPr>
            </a:pPr>
            <a:r>
              <a:t>•  Evaluation measure</a:t>
            </a:r>
          </a:p>
        </p:txBody>
      </p:sp>
      <p:sp>
        <p:nvSpPr>
          <p:cNvPr id="25" name="TextBox 24"/>
          <p:cNvSpPr txBox="1"/>
          <p:nvPr/>
        </p:nvSpPr>
        <p:spPr>
          <a:xfrm>
            <a:off x="6601968" y="4974336"/>
            <a:ext cx="4526280" cy="301752"/>
          </a:xfrm>
          <a:prstGeom prst="rect">
            <a:avLst/>
          </a:prstGeom>
          <a:noFill/>
        </p:spPr>
        <p:txBody>
          <a:bodyPr wrap="square" lIns="0" rIns="0" tIns="0" bIns="0" anchor="t">
            <a:spAutoFit/>
          </a:bodyPr>
          <a:lstStyle/>
          <a:p>
            <a:pPr>
              <a:lnSpc>
                <a:spcPct val="110000"/>
              </a:lnSpc>
              <a:spcBef>
                <a:spcPts val="0"/>
              </a:spcBef>
              <a:spcAft>
                <a:spcPts val="0"/>
              </a:spcAft>
              <a:defRPr sz="1700" b="0">
                <a:solidFill>
                  <a:srgbClr val="61718D"/>
                </a:solidFill>
                <a:latin typeface="Manrope"/>
              </a:defRPr>
            </a:pPr>
            <a:r>
              <a:t>•  What would count against it</a:t>
            </a:r>
          </a:p>
        </p:txBody>
      </p:sp>
      <p:sp>
        <p:nvSpPr>
          <p:cNvPr id="26" name="TextBox 25"/>
          <p:cNvSpPr txBox="1"/>
          <p:nvPr/>
        </p:nvSpPr>
        <p:spPr>
          <a:xfrm>
            <a:off x="6574536" y="5440680"/>
            <a:ext cx="4526280" cy="228600"/>
          </a:xfrm>
          <a:prstGeom prst="rect">
            <a:avLst/>
          </a:prstGeom>
          <a:noFill/>
        </p:spPr>
        <p:txBody>
          <a:bodyPr wrap="square" lIns="0" rIns="0" tIns="0" bIns="0" anchor="t">
            <a:spAutoFit/>
          </a:bodyPr>
          <a:lstStyle/>
          <a:p>
            <a:pPr>
              <a:lnSpc>
                <a:spcPct val="110000"/>
              </a:lnSpc>
              <a:spcBef>
                <a:spcPts val="0"/>
              </a:spcBef>
              <a:spcAft>
                <a:spcPts val="0"/>
              </a:spcAft>
              <a:defRPr sz="1200" b="1">
                <a:solidFill>
                  <a:srgbClr val="6257F5"/>
                </a:solidFill>
                <a:latin typeface="Manrope"/>
              </a:defRPr>
            </a:pPr>
            <a:r>
              <a:t>Editable · for human review</a:t>
            </a:r>
          </a:p>
        </p:txBody>
      </p:sp>
      <p:sp>
        <p:nvSpPr>
          <p:cNvPr id="27" name="TextBox 26"/>
          <p:cNvSpPr txBox="1"/>
          <p:nvPr/>
        </p:nvSpPr>
        <p:spPr>
          <a:xfrm>
            <a:off x="713232" y="5989320"/>
            <a:ext cx="10789920" cy="228600"/>
          </a:xfrm>
          <a:prstGeom prst="rect">
            <a:avLst/>
          </a:prstGeom>
          <a:noFill/>
        </p:spPr>
        <p:txBody>
          <a:bodyPr wrap="square" lIns="0" rIns="0" tIns="0" bIns="0" anchor="t">
            <a:spAutoFit/>
          </a:bodyPr>
          <a:lstStyle/>
          <a:p>
            <a:pPr>
              <a:lnSpc>
                <a:spcPct val="110000"/>
              </a:lnSpc>
              <a:spcBef>
                <a:spcPts val="0"/>
              </a:spcBef>
              <a:spcAft>
                <a:spcPts val="0"/>
              </a:spcAft>
              <a:defRPr sz="1300" b="0">
                <a:solidFill>
                  <a:srgbClr val="61718D"/>
                </a:solidFill>
                <a:latin typeface="Manrope"/>
              </a:defRPr>
            </a:pPr>
            <a:r>
              <a:t>Citation checks establish provenance. Scientific interpretation needs human review.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8F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10241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aperbridge-logo.png"/>
          <p:cNvPicPr>
            <a:picLocks noChangeAspect="1"/>
          </p:cNvPicPr>
          <p:nvPr/>
        </p:nvPicPr>
        <p:blipFill>
          <a:blip r:embed="rId2"/>
          <a:stretch>
            <a:fillRect/>
          </a:stretch>
        </p:blipFill>
        <p:spPr>
          <a:xfrm>
            <a:off x="566928" y="146304"/>
            <a:ext cx="1572768" cy="731520"/>
          </a:xfrm>
          <a:prstGeom prst="rect">
            <a:avLst/>
          </a:prstGeom>
        </p:spPr>
      </p:pic>
      <p:sp>
        <p:nvSpPr>
          <p:cNvPr id="5" name="TextBox 4"/>
          <p:cNvSpPr txBox="1"/>
          <p:nvPr/>
        </p:nvSpPr>
        <p:spPr>
          <a:xfrm>
            <a:off x="8229600" y="420624"/>
            <a:ext cx="3337560" cy="228600"/>
          </a:xfrm>
          <a:prstGeom prst="rect">
            <a:avLst/>
          </a:prstGeom>
          <a:noFill/>
        </p:spPr>
        <p:txBody>
          <a:bodyPr wrap="square" lIns="0" rIns="0" tIns="0" bIns="0" anchor="t">
            <a:spAutoFit/>
          </a:bodyPr>
          <a:lstStyle/>
          <a:p>
            <a:pPr>
              <a:lnSpc>
                <a:spcPct val="110000"/>
              </a:lnSpc>
              <a:spcBef>
                <a:spcPts val="0"/>
              </a:spcBef>
              <a:spcAft>
                <a:spcPts val="0"/>
              </a:spcAft>
              <a:defRPr sz="1100" b="1">
                <a:solidFill>
                  <a:srgbClr val="61718D"/>
                </a:solidFill>
                <a:latin typeface="Manrope"/>
              </a:defRPr>
            </a:pPr>
            <a:r>
              <a:t>THE IMPACT</a:t>
            </a:r>
          </a:p>
        </p:txBody>
      </p:sp>
      <p:cxnSp>
        <p:nvCxnSpPr>
          <p:cNvPr id="6" name="Connector 5"/>
          <p:cNvCxnSpPr/>
          <p:nvPr/>
        </p:nvCxnSpPr>
        <p:spPr>
          <a:xfrm>
            <a:off x="594360" y="1024128"/>
            <a:ext cx="11000232" cy="0"/>
          </a:xfrm>
          <a:prstGeom prst="line">
            <a:avLst/>
          </a:prstGeom>
          <a:ln w="10160">
            <a:solidFill>
              <a:srgbClr val="DFE5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21792" y="6473952"/>
            <a:ext cx="7315200" cy="182880"/>
          </a:xfrm>
          <a:prstGeom prst="rect">
            <a:avLst/>
          </a:prstGeom>
          <a:noFill/>
        </p:spPr>
        <p:txBody>
          <a:bodyPr wrap="square" lIns="0" rIns="0" tIns="0" bIns="0" anchor="t">
            <a:spAutoFit/>
          </a:bodyPr>
          <a:lstStyle/>
          <a:p>
            <a:pPr>
              <a:lnSpc>
                <a:spcPct val="110000"/>
              </a:lnSpc>
              <a:spcBef>
                <a:spcPts val="0"/>
              </a:spcBef>
              <a:spcAft>
                <a:spcPts val="0"/>
              </a:spcAft>
              <a:defRPr sz="1000" b="0">
                <a:solidFill>
                  <a:srgbClr val="61718D"/>
                </a:solidFill>
                <a:latin typeface="Manrope"/>
              </a:defRPr>
            </a:pPr>
            <a:r>
              <a:t>PaperBridge  /  Research workspace</a:t>
            </a:r>
          </a:p>
        </p:txBody>
      </p:sp>
      <p:sp>
        <p:nvSpPr>
          <p:cNvPr id="8" name="TextBox 7"/>
          <p:cNvSpPr txBox="1"/>
          <p:nvPr/>
        </p:nvSpPr>
        <p:spPr>
          <a:xfrm>
            <a:off x="10698480" y="6473952"/>
            <a:ext cx="914400" cy="182880"/>
          </a:xfrm>
          <a:prstGeom prst="rect">
            <a:avLst/>
          </a:prstGeom>
          <a:noFill/>
        </p:spPr>
        <p:txBody>
          <a:bodyPr wrap="square" lIns="0" rIns="0" tIns="0" bIns="0" anchor="t">
            <a:spAutoFit/>
          </a:bodyPr>
          <a:lstStyle/>
          <a:p>
            <a:pPr>
              <a:lnSpc>
                <a:spcPct val="110000"/>
              </a:lnSpc>
              <a:spcBef>
                <a:spcPts val="0"/>
              </a:spcBef>
              <a:spcAft>
                <a:spcPts val="0"/>
              </a:spcAft>
              <a:defRPr sz="1000" b="1">
                <a:solidFill>
                  <a:srgbClr val="61718D"/>
                </a:solidFill>
                <a:latin typeface="Manrope"/>
              </a:defRPr>
            </a:pPr>
            <a:r>
              <a:t>04 / 04</a:t>
            </a:r>
          </a:p>
        </p:txBody>
      </p:sp>
      <p:sp>
        <p:nvSpPr>
          <p:cNvPr id="9" name="TextBox 8"/>
          <p:cNvSpPr txBox="1"/>
          <p:nvPr/>
        </p:nvSpPr>
        <p:spPr>
          <a:xfrm>
            <a:off x="685800" y="1426464"/>
            <a:ext cx="10789920" cy="1298448"/>
          </a:xfrm>
          <a:prstGeom prst="rect">
            <a:avLst/>
          </a:prstGeom>
          <a:noFill/>
        </p:spPr>
        <p:txBody>
          <a:bodyPr wrap="square" lIns="0" rIns="0" tIns="0" bIns="0" anchor="t">
            <a:spAutoFit/>
          </a:bodyPr>
          <a:lstStyle/>
          <a:p>
            <a:pPr>
              <a:lnSpc>
                <a:spcPct val="110000"/>
              </a:lnSpc>
              <a:spcBef>
                <a:spcPts val="0"/>
              </a:spcBef>
              <a:spcAft>
                <a:spcPts val="0"/>
              </a:spcAft>
              <a:defRPr sz="4000" b="1">
                <a:solidFill>
                  <a:srgbClr val="102346"/>
                </a:solidFill>
                <a:latin typeface="Manrope"/>
              </a:defRPr>
            </a:pPr>
            <a:r>
              <a:t>Make research</a:t>
            </a:r>
          </a:p>
          <a:p>
            <a:pPr>
              <a:lnSpc>
                <a:spcPct val="110000"/>
              </a:lnSpc>
              <a:spcBef>
                <a:spcPts val="0"/>
              </a:spcBef>
              <a:spcAft>
                <a:spcPts val="0"/>
              </a:spcAft>
              <a:defRPr sz="4000" b="1">
                <a:solidFill>
                  <a:srgbClr val="102346"/>
                </a:solidFill>
                <a:latin typeface="Manrope"/>
              </a:defRPr>
            </a:pPr>
            <a:r>
              <a:t>more approachable.</a:t>
            </a:r>
          </a:p>
        </p:txBody>
      </p:sp>
      <p:sp>
        <p:nvSpPr>
          <p:cNvPr id="10" name="Rounded Rectangle 9"/>
          <p:cNvSpPr/>
          <p:nvPr/>
        </p:nvSpPr>
        <p:spPr>
          <a:xfrm>
            <a:off x="749808" y="3319272"/>
            <a:ext cx="118872" cy="118872"/>
          </a:xfrm>
          <a:prstGeom prst="roundRect">
            <a:avLst>
              <a:gd name="adj" fmla="val 12000"/>
            </a:avLst>
          </a:prstGeom>
          <a:solidFill>
            <a:srgbClr val="625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246120"/>
            <a:ext cx="7223760" cy="438912"/>
          </a:xfrm>
          <a:prstGeom prst="rect">
            <a:avLst/>
          </a:prstGeom>
          <a:noFill/>
        </p:spPr>
        <p:txBody>
          <a:bodyPr wrap="square" lIns="0" rIns="0" tIns="0" bIns="0" anchor="t">
            <a:spAutoFit/>
          </a:bodyPr>
          <a:lstStyle/>
          <a:p>
            <a:pPr>
              <a:lnSpc>
                <a:spcPct val="110000"/>
              </a:lnSpc>
              <a:spcBef>
                <a:spcPts val="0"/>
              </a:spcBef>
              <a:spcAft>
                <a:spcPts val="0"/>
              </a:spcAft>
              <a:defRPr sz="2400" b="1">
                <a:solidFill>
                  <a:srgbClr val="102346"/>
                </a:solidFill>
                <a:latin typeface="Manrope"/>
              </a:defRPr>
            </a:pPr>
            <a:r>
              <a:t>See connections across papers</a:t>
            </a:r>
          </a:p>
        </p:txBody>
      </p:sp>
      <p:sp>
        <p:nvSpPr>
          <p:cNvPr id="12" name="Rounded Rectangle 11"/>
          <p:cNvSpPr/>
          <p:nvPr/>
        </p:nvSpPr>
        <p:spPr>
          <a:xfrm>
            <a:off x="749808" y="3950208"/>
            <a:ext cx="118872" cy="118872"/>
          </a:xfrm>
          <a:prstGeom prst="roundRect">
            <a:avLst>
              <a:gd name="adj" fmla="val 12000"/>
            </a:avLst>
          </a:prstGeom>
          <a:solidFill>
            <a:srgbClr val="625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3877056"/>
            <a:ext cx="7223760" cy="438912"/>
          </a:xfrm>
          <a:prstGeom prst="rect">
            <a:avLst/>
          </a:prstGeom>
          <a:noFill/>
        </p:spPr>
        <p:txBody>
          <a:bodyPr wrap="square" lIns="0" rIns="0" tIns="0" bIns="0" anchor="t">
            <a:spAutoFit/>
          </a:bodyPr>
          <a:lstStyle/>
          <a:p>
            <a:pPr>
              <a:lnSpc>
                <a:spcPct val="110000"/>
              </a:lnSpc>
              <a:spcBef>
                <a:spcPts val="0"/>
              </a:spcBef>
              <a:spcAft>
                <a:spcPts val="0"/>
              </a:spcAft>
              <a:defRPr sz="2400" b="1">
                <a:solidFill>
                  <a:srgbClr val="102346"/>
                </a:solidFill>
                <a:latin typeface="Manrope"/>
              </a:defRPr>
            </a:pPr>
            <a:r>
              <a:t>Ask a sharper research question</a:t>
            </a:r>
          </a:p>
        </p:txBody>
      </p:sp>
      <p:sp>
        <p:nvSpPr>
          <p:cNvPr id="14" name="Rounded Rectangle 13"/>
          <p:cNvSpPr/>
          <p:nvPr/>
        </p:nvSpPr>
        <p:spPr>
          <a:xfrm>
            <a:off x="749808" y="4581144"/>
            <a:ext cx="118872" cy="118872"/>
          </a:xfrm>
          <a:prstGeom prst="roundRect">
            <a:avLst>
              <a:gd name="adj" fmla="val 12000"/>
            </a:avLst>
          </a:prstGeom>
          <a:solidFill>
            <a:srgbClr val="625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4507992"/>
            <a:ext cx="7223760" cy="438912"/>
          </a:xfrm>
          <a:prstGeom prst="rect">
            <a:avLst/>
          </a:prstGeom>
          <a:noFill/>
        </p:spPr>
        <p:txBody>
          <a:bodyPr wrap="square" lIns="0" rIns="0" tIns="0" bIns="0" anchor="t">
            <a:spAutoFit/>
          </a:bodyPr>
          <a:lstStyle/>
          <a:p>
            <a:pPr>
              <a:lnSpc>
                <a:spcPct val="110000"/>
              </a:lnSpc>
              <a:spcBef>
                <a:spcPts val="0"/>
              </a:spcBef>
              <a:spcAft>
                <a:spcPts val="0"/>
              </a:spcAft>
              <a:defRPr sz="2400" b="1">
                <a:solidFill>
                  <a:srgbClr val="102346"/>
                </a:solidFill>
                <a:latin typeface="Manrope"/>
              </a:defRPr>
            </a:pPr>
            <a:r>
              <a:t>Design a manageable first test</a:t>
            </a:r>
          </a:p>
        </p:txBody>
      </p:sp>
      <p:sp>
        <p:nvSpPr>
          <p:cNvPr id="16" name="Rounded Rectangle 15"/>
          <p:cNvSpPr/>
          <p:nvPr/>
        </p:nvSpPr>
        <p:spPr>
          <a:xfrm>
            <a:off x="9171432" y="3063240"/>
            <a:ext cx="2286000" cy="2286000"/>
          </a:xfrm>
          <a:prstGeom prst="roundRect">
            <a:avLst>
              <a:gd name="adj" fmla="val 12000"/>
            </a:avLst>
          </a:prstGeom>
          <a:solidFill>
            <a:srgbClr val="FFFFFF"/>
          </a:solidFill>
          <a:ln w="10160">
            <a:solidFill>
              <a:srgbClr val="DFE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paperbridge-icon.png"/>
          <p:cNvPicPr>
            <a:picLocks noChangeAspect="1"/>
          </p:cNvPicPr>
          <p:nvPr/>
        </p:nvPicPr>
        <p:blipFill>
          <a:blip r:embed="rId3"/>
          <a:stretch>
            <a:fillRect/>
          </a:stretch>
        </p:blipFill>
        <p:spPr>
          <a:xfrm>
            <a:off x="9345168" y="3236976"/>
            <a:ext cx="1938528" cy="1938528"/>
          </a:xfrm>
          <a:prstGeom prst="rect">
            <a:avLst/>
          </a:prstGeom>
        </p:spPr>
      </p:pic>
      <p:sp>
        <p:nvSpPr>
          <p:cNvPr id="18" name="TextBox 17"/>
          <p:cNvSpPr txBox="1"/>
          <p:nvPr/>
        </p:nvSpPr>
        <p:spPr>
          <a:xfrm>
            <a:off x="713232" y="5504688"/>
            <a:ext cx="10698480" cy="384048"/>
          </a:xfrm>
          <a:prstGeom prst="rect">
            <a:avLst/>
          </a:prstGeom>
          <a:noFill/>
        </p:spPr>
        <p:txBody>
          <a:bodyPr wrap="square" lIns="0" rIns="0" tIns="0" bIns="0" anchor="t">
            <a:spAutoFit/>
          </a:bodyPr>
          <a:lstStyle/>
          <a:p>
            <a:pPr>
              <a:lnSpc>
                <a:spcPct val="110000"/>
              </a:lnSpc>
              <a:spcBef>
                <a:spcPts val="0"/>
              </a:spcBef>
              <a:spcAft>
                <a:spcPts val="0"/>
              </a:spcAft>
              <a:defRPr sz="2400" b="1">
                <a:solidFill>
                  <a:srgbClr val="6257F5"/>
                </a:solidFill>
                <a:latin typeface="Manrope"/>
              </a:defRPr>
            </a:pPr>
            <a:r>
              <a:t>Evidence first. Researchers in control.</a:t>
            </a:r>
          </a:p>
        </p:txBody>
      </p:sp>
      <p:sp>
        <p:nvSpPr>
          <p:cNvPr id="19" name="TextBox 18"/>
          <p:cNvSpPr txBox="1"/>
          <p:nvPr/>
        </p:nvSpPr>
        <p:spPr>
          <a:xfrm>
            <a:off x="722376" y="6053328"/>
            <a:ext cx="10698480" cy="228600"/>
          </a:xfrm>
          <a:prstGeom prst="rect">
            <a:avLst/>
          </a:prstGeom>
          <a:noFill/>
        </p:spPr>
        <p:txBody>
          <a:bodyPr wrap="square" lIns="0" rIns="0" tIns="0" bIns="0" anchor="t">
            <a:spAutoFit/>
          </a:bodyPr>
          <a:lstStyle/>
          <a:p>
            <a:pPr>
              <a:lnSpc>
                <a:spcPct val="110000"/>
              </a:lnSpc>
              <a:spcBef>
                <a:spcPts val="0"/>
              </a:spcBef>
              <a:spcAft>
                <a:spcPts val="0"/>
              </a:spcAft>
              <a:defRPr sz="1200" b="0">
                <a:solidFill>
                  <a:srgbClr val="61718D"/>
                </a:solidFill>
                <a:latin typeface="Manrope"/>
              </a:defRPr>
            </a:pPr>
            <a:r>
              <a:t>Hackathon prototype  ·  React  ·  TypeScript  ·  Node.js  ·  OpenAI API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PaperBridge — From Papers to a Testable Idea</dc:title>
  <dc:subject>One-minute hackathon presentation</dc:subject>
  <dc:creator>PaperBridge</dc:creator>
  <cp:keywords>PaperBridge, research, evidence, hypothesis, experiment</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